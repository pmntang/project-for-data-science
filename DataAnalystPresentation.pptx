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5.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6.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5"/>
  </p:notesMasterIdLst>
  <p:sldIdLst>
    <p:sldId id="256" r:id="rId5"/>
    <p:sldId id="257" r:id="rId6"/>
    <p:sldId id="258" r:id="rId7"/>
    <p:sldId id="259" r:id="rId8"/>
    <p:sldId id="260" r:id="rId9"/>
    <p:sldId id="262" r:id="rId10"/>
    <p:sldId id="263" r:id="rId11"/>
    <p:sldId id="276" r:id="rId12"/>
    <p:sldId id="264" r:id="rId13"/>
    <p:sldId id="265" r:id="rId14"/>
    <p:sldId id="277" r:id="rId15"/>
    <p:sldId id="266" r:id="rId16"/>
    <p:sldId id="267" r:id="rId17"/>
    <p:sldId id="280" r:id="rId18"/>
    <p:sldId id="281" r:id="rId19"/>
    <p:sldId id="283" r:id="rId20"/>
    <p:sldId id="284" r:id="rId21"/>
    <p:sldId id="285" r:id="rId22"/>
    <p:sldId id="269" r:id="rId23"/>
    <p:sldId id="286" r:id="rId24"/>
    <p:sldId id="287" r:id="rId25"/>
    <p:sldId id="288" r:id="rId26"/>
    <p:sldId id="289" r:id="rId27"/>
    <p:sldId id="270" r:id="rId28"/>
    <p:sldId id="290" r:id="rId29"/>
    <p:sldId id="271" r:id="rId30"/>
    <p:sldId id="272" r:id="rId31"/>
    <p:sldId id="273" r:id="rId32"/>
    <p:sldId id="274" r:id="rId33"/>
    <p:sldId id="275" r:id="rId34"/>
  </p:sldIdLst>
  <p:sldSz cx="12192000" cy="6858000"/>
  <p:notesSz cx="6858000" cy="1857375"/>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480" autoAdjust="0"/>
  </p:normalViewPr>
  <p:slideViewPr>
    <p:cSldViewPr snapToGrid="0">
      <p:cViewPr varScale="1">
        <p:scale>
          <a:sx n="73" d="100"/>
          <a:sy n="73" d="100"/>
        </p:scale>
        <p:origin x="43" y="8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ownloads\Languages_Comparison_with_Cha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ownloads\job_posting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ownloads\popular-language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CA" sz="1400" b="1" dirty="0">
                <a:solidFill>
                  <a:schemeClr val="tx1"/>
                </a:solidFill>
                <a:effectLst/>
              </a:rPr>
              <a:t>Comparison of language popularity versus average salaries for those languages</a:t>
            </a:r>
            <a:endParaRPr lang="fr-CA" sz="1400" b="1" dirty="0">
              <a:solidFill>
                <a:schemeClr val="tx1"/>
              </a:solidFill>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CA"/>
        </a:p>
      </c:txPr>
    </c:title>
    <c:autoTitleDeleted val="0"/>
    <c:plotArea>
      <c:layout>
        <c:manualLayout>
          <c:layoutTarget val="inner"/>
          <c:xMode val="edge"/>
          <c:yMode val="edge"/>
          <c:x val="4.0221868333873999E-2"/>
          <c:y val="9.7331947331947347E-2"/>
          <c:w val="0.93480934265239313"/>
          <c:h val="0.71183857994881616"/>
        </c:manualLayout>
      </c:layout>
      <c:lineChart>
        <c:grouping val="stacked"/>
        <c:varyColors val="0"/>
        <c:ser>
          <c:idx val="0"/>
          <c:order val="0"/>
          <c:tx>
            <c:strRef>
              <c:f>Popularity!$H$18</c:f>
              <c:strCache>
                <c:ptCount val="1"/>
                <c:pt idx="0">
                  <c:v>Number of times the language is requested per  percentage</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Popularity!$G$19:$G$23</c:f>
              <c:strCache>
                <c:ptCount val="5"/>
                <c:pt idx="0">
                  <c:v>C#</c:v>
                </c:pt>
                <c:pt idx="1">
                  <c:v>C++</c:v>
                </c:pt>
                <c:pt idx="2">
                  <c:v>Java</c:v>
                </c:pt>
                <c:pt idx="3">
                  <c:v>JavaScript</c:v>
                </c:pt>
                <c:pt idx="4">
                  <c:v>Python</c:v>
                </c:pt>
              </c:strCache>
            </c:strRef>
          </c:cat>
          <c:val>
            <c:numRef>
              <c:f>Popularity!$H$19:$H$23</c:f>
              <c:numCache>
                <c:formatCode>0.00</c:formatCode>
                <c:ptCount val="5"/>
                <c:pt idx="0">
                  <c:v>6.674279913716534E-2</c:v>
                </c:pt>
                <c:pt idx="1">
                  <c:v>6.4205050120543075E-2</c:v>
                </c:pt>
                <c:pt idx="2">
                  <c:v>0.43497018144905469</c:v>
                </c:pt>
                <c:pt idx="3">
                  <c:v>0.28524298946834159</c:v>
                </c:pt>
                <c:pt idx="4">
                  <c:v>0.14883897982489533</c:v>
                </c:pt>
              </c:numCache>
            </c:numRef>
          </c:val>
          <c:smooth val="0"/>
          <c:extLst>
            <c:ext xmlns:c16="http://schemas.microsoft.com/office/drawing/2014/chart" uri="{C3380CC4-5D6E-409C-BE32-E72D297353CC}">
              <c16:uniqueId val="{00000000-6D33-4862-9DBD-B3997D0375F6}"/>
            </c:ext>
          </c:extLst>
        </c:ser>
        <c:ser>
          <c:idx val="1"/>
          <c:order val="1"/>
          <c:tx>
            <c:strRef>
              <c:f>Popularity!$I$18</c:f>
              <c:strCache>
                <c:ptCount val="1"/>
                <c:pt idx="0">
                  <c:v>Average Annual Salary ($) per percentage</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Popularity!$G$19:$G$23</c:f>
              <c:strCache>
                <c:ptCount val="5"/>
                <c:pt idx="0">
                  <c:v>C#</c:v>
                </c:pt>
                <c:pt idx="1">
                  <c:v>C++</c:v>
                </c:pt>
                <c:pt idx="2">
                  <c:v>Java</c:v>
                </c:pt>
                <c:pt idx="3">
                  <c:v>JavaScript</c:v>
                </c:pt>
                <c:pt idx="4">
                  <c:v>Python</c:v>
                </c:pt>
              </c:strCache>
            </c:strRef>
          </c:cat>
          <c:val>
            <c:numRef>
              <c:f>Popularity!$I$19:$I$23</c:f>
              <c:numCache>
                <c:formatCode>0.00</c:formatCode>
                <c:ptCount val="5"/>
                <c:pt idx="0">
                  <c:v>0.16773415405090666</c:v>
                </c:pt>
                <c:pt idx="1">
                  <c:v>0.21525876801621269</c:v>
                </c:pt>
                <c:pt idx="2">
                  <c:v>0.1909624022625187</c:v>
                </c:pt>
                <c:pt idx="3">
                  <c:v>0.20980664236778029</c:v>
                </c:pt>
                <c:pt idx="4">
                  <c:v>0.21623803330258162</c:v>
                </c:pt>
              </c:numCache>
            </c:numRef>
          </c:val>
          <c:smooth val="0"/>
          <c:extLst>
            <c:ext xmlns:c16="http://schemas.microsoft.com/office/drawing/2014/chart" uri="{C3380CC4-5D6E-409C-BE32-E72D297353CC}">
              <c16:uniqueId val="{00000001-6D33-4862-9DBD-B3997D0375F6}"/>
            </c:ext>
          </c:extLst>
        </c:ser>
        <c:dLbls>
          <c:showLegendKey val="0"/>
          <c:showVal val="0"/>
          <c:showCatName val="0"/>
          <c:showSerName val="0"/>
          <c:showPercent val="0"/>
          <c:showBubbleSize val="0"/>
        </c:dLbls>
        <c:smooth val="0"/>
        <c:axId val="1136766176"/>
        <c:axId val="1136767616"/>
      </c:lineChart>
      <c:catAx>
        <c:axId val="1136766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36767616"/>
        <c:crosses val="autoZero"/>
        <c:auto val="1"/>
        <c:lblAlgn val="ctr"/>
        <c:lblOffset val="100"/>
        <c:noMultiLvlLbl val="0"/>
      </c:catAx>
      <c:valAx>
        <c:axId val="113676761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36766176"/>
        <c:crosses val="autoZero"/>
        <c:crossBetween val="between"/>
      </c:valAx>
      <c:spPr>
        <a:noFill/>
        <a:ln>
          <a:noFill/>
        </a:ln>
        <a:effectLst/>
      </c:spPr>
    </c:plotArea>
    <c:legend>
      <c:legendPos val="b"/>
      <c:layout>
        <c:manualLayout>
          <c:xMode val="edge"/>
          <c:yMode val="edge"/>
          <c:x val="0.31879965004374455"/>
          <c:y val="0.89409667541557303"/>
          <c:w val="0.45684492563429568"/>
          <c:h val="8.738480606590842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fr-CA" sz="1800">
                <a:solidFill>
                  <a:srgbClr val="FF0000"/>
                </a:solidFill>
                <a:effectLst/>
              </a:rPr>
              <a:t>Popularity of languages per job advertisement</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fr-FR"/>
        </a:p>
      </c:txPr>
    </c:title>
    <c:autoTitleDeleted val="0"/>
    <c:plotArea>
      <c:layout/>
      <c:barChart>
        <c:barDir val="bar"/>
        <c:grouping val="clustered"/>
        <c:varyColors val="0"/>
        <c:ser>
          <c:idx val="0"/>
          <c:order val="0"/>
          <c:spPr>
            <a:solidFill>
              <a:srgbClr val="00B0F0"/>
            </a:solidFill>
            <a:ln w="9525" cap="flat" cmpd="sng" algn="ctr">
              <a:solidFill>
                <a:srgbClr val="00B0F0"/>
              </a:solidFill>
              <a:round/>
            </a:ln>
            <a:effectLst>
              <a:outerShdw blurRad="40000" dist="20000" dir="5400000" rotWithShape="0">
                <a:srgbClr val="000000">
                  <a:alpha val="38000"/>
                </a:srgbClr>
              </a:outerShdw>
            </a:effectLst>
          </c:spPr>
          <c:invertIfNegative val="0"/>
          <c:cat>
            <c:strRef>
              <c:f>'Job Data'!$A$2:$A$13</c:f>
              <c:strCache>
                <c:ptCount val="12"/>
                <c:pt idx="0">
                  <c:v>C</c:v>
                </c:pt>
                <c:pt idx="1">
                  <c:v>Java</c:v>
                </c:pt>
                <c:pt idx="2">
                  <c:v>JavaScript</c:v>
                </c:pt>
                <c:pt idx="3">
                  <c:v>Python</c:v>
                </c:pt>
                <c:pt idx="4">
                  <c:v>Oracle</c:v>
                </c:pt>
                <c:pt idx="5">
                  <c:v>C#</c:v>
                </c:pt>
                <c:pt idx="6">
                  <c:v>C++</c:v>
                </c:pt>
                <c:pt idx="7">
                  <c:v>SQL Server</c:v>
                </c:pt>
                <c:pt idx="8">
                  <c:v>MongoDB</c:v>
                </c:pt>
                <c:pt idx="9">
                  <c:v>Scala</c:v>
                </c:pt>
                <c:pt idx="10">
                  <c:v>PostgreSQL</c:v>
                </c:pt>
                <c:pt idx="11">
                  <c:v>MySQL Server</c:v>
                </c:pt>
              </c:strCache>
            </c:strRef>
          </c:cat>
          <c:val>
            <c:numRef>
              <c:f>'Job Data'!$C$2:$C$13</c:f>
              <c:numCache>
                <c:formatCode>0%</c:formatCode>
                <c:ptCount val="12"/>
                <c:pt idx="0">
                  <c:v>0.722725833836945</c:v>
                </c:pt>
                <c:pt idx="1">
                  <c:v>9.8650320872543093E-2</c:v>
                </c:pt>
                <c:pt idx="2">
                  <c:v>6.4692509136953583E-2</c:v>
                </c:pt>
                <c:pt idx="3">
                  <c:v>3.3756367089700423E-2</c:v>
                </c:pt>
                <c:pt idx="4">
                  <c:v>2.5871248093470314E-2</c:v>
                </c:pt>
                <c:pt idx="5">
                  <c:v>1.5137126248237359E-2</c:v>
                </c:pt>
                <c:pt idx="6">
                  <c:v>1.4561570117125673E-2</c:v>
                </c:pt>
                <c:pt idx="7">
                  <c:v>1.2173012173012173E-2</c:v>
                </c:pt>
                <c:pt idx="8">
                  <c:v>5.985783763561541E-3</c:v>
                </c:pt>
                <c:pt idx="9">
                  <c:v>3.9713373046706378E-3</c:v>
                </c:pt>
                <c:pt idx="10">
                  <c:v>2.4748913637802528E-3</c:v>
                </c:pt>
                <c:pt idx="11">
                  <c:v>0</c:v>
                </c:pt>
              </c:numCache>
            </c:numRef>
          </c:val>
          <c:extLst>
            <c:ext xmlns:c16="http://schemas.microsoft.com/office/drawing/2014/chart" uri="{C3380CC4-5D6E-409C-BE32-E72D297353CC}">
              <c16:uniqueId val="{00000000-FA67-4BAC-AE07-705D335CE950}"/>
            </c:ext>
          </c:extLst>
        </c:ser>
        <c:dLbls>
          <c:showLegendKey val="0"/>
          <c:showVal val="0"/>
          <c:showCatName val="0"/>
          <c:showSerName val="0"/>
          <c:showPercent val="0"/>
          <c:showBubbleSize val="0"/>
        </c:dLbls>
        <c:gapWidth val="100"/>
        <c:axId val="1385066608"/>
        <c:axId val="1385065648"/>
      </c:barChart>
      <c:catAx>
        <c:axId val="1385066608"/>
        <c:scaling>
          <c:orientation val="minMax"/>
        </c:scaling>
        <c:delete val="0"/>
        <c:axPos val="l"/>
        <c:title>
          <c:tx>
            <c:rich>
              <a:bodyPr rot="-5400000" spcFirstLastPara="1" vertOverflow="ellipsis" vert="horz" wrap="square" anchor="ctr" anchorCtr="1"/>
              <a:lstStyle/>
              <a:p>
                <a:pPr>
                  <a:defRPr sz="900" b="0" i="0" u="none" strike="noStrike" kern="1200" cap="all" baseline="0">
                    <a:solidFill>
                      <a:schemeClr val="tx1">
                        <a:lumMod val="50000"/>
                        <a:lumOff val="50000"/>
                      </a:schemeClr>
                    </a:solidFill>
                    <a:latin typeface="+mn-lt"/>
                    <a:ea typeface="+mn-ea"/>
                    <a:cs typeface="+mn-cs"/>
                  </a:defRPr>
                </a:pPr>
                <a:r>
                  <a:rPr lang="fr-CA" b="1" cap="none" baseline="0">
                    <a:solidFill>
                      <a:schemeClr val="tx1"/>
                    </a:solidFill>
                  </a:rPr>
                  <a:t>Language</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50000"/>
                      <a:lumOff val="50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fr-FR"/>
          </a:p>
        </c:txPr>
        <c:crossAx val="1385065648"/>
        <c:crosses val="autoZero"/>
        <c:auto val="1"/>
        <c:lblAlgn val="ctr"/>
        <c:lblOffset val="100"/>
        <c:noMultiLvlLbl val="0"/>
      </c:catAx>
      <c:valAx>
        <c:axId val="138506564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50000"/>
                        <a:lumOff val="50000"/>
                      </a:schemeClr>
                    </a:solidFill>
                    <a:latin typeface="+mn-lt"/>
                    <a:ea typeface="+mn-ea"/>
                    <a:cs typeface="+mn-cs"/>
                  </a:defRPr>
                </a:pPr>
                <a:r>
                  <a:rPr lang="fr-CA" sz="1000" b="1" cap="none" baseline="0">
                    <a:solidFill>
                      <a:schemeClr val="tx1"/>
                    </a:solidFill>
                    <a:effectLst/>
                  </a:rPr>
                  <a:t>Percentage of requests for the language</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50000"/>
                      <a:lumOff val="50000"/>
                    </a:schemeClr>
                  </a:solidFill>
                  <a:latin typeface="+mn-lt"/>
                  <a:ea typeface="+mn-ea"/>
                  <a:cs typeface="+mn-cs"/>
                </a:defRPr>
              </a:pPr>
              <a:endParaRPr lang="fr-FR"/>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fr-FR"/>
          </a:p>
        </c:txPr>
        <c:crossAx val="1385066608"/>
        <c:crosses val="autoZero"/>
        <c:crossBetween val="between"/>
      </c:valAx>
      <c:spPr>
        <a:noFill/>
        <a:ln>
          <a:solidFill>
            <a:srgbClr val="00B0F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CA">
                <a:solidFill>
                  <a:srgbClr val="FF0000"/>
                </a:solidFill>
              </a:rPr>
              <a:t>Average Annual Salary per Language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'popular-languages'!$A$2:$A$11</c:f>
              <c:strCache>
                <c:ptCount val="10"/>
                <c:pt idx="0">
                  <c:v>Swift</c:v>
                </c:pt>
                <c:pt idx="1">
                  <c:v>Python</c:v>
                </c:pt>
                <c:pt idx="2">
                  <c:v>C++</c:v>
                </c:pt>
                <c:pt idx="3">
                  <c:v>Javascript</c:v>
                </c:pt>
                <c:pt idx="4">
                  <c:v>Java</c:v>
                </c:pt>
                <c:pt idx="5">
                  <c:v>Go</c:v>
                </c:pt>
                <c:pt idx="6">
                  <c:v>R</c:v>
                </c:pt>
                <c:pt idx="7">
                  <c:v>C#</c:v>
                </c:pt>
                <c:pt idx="8">
                  <c:v>SQL</c:v>
                </c:pt>
                <c:pt idx="9">
                  <c:v>PHP</c:v>
                </c:pt>
              </c:strCache>
            </c:strRef>
          </c:cat>
          <c:val>
            <c:numRef>
              <c:f>'popular-languages'!$B$2:$B$11</c:f>
              <c:numCache>
                <c:formatCode>_-[$$-409]* #\ ##0_ ;_-[$$-409]* \-#\ ##0\ ;_-[$$-409]* "-"_ ;_-@_ </c:formatCode>
                <c:ptCount val="10"/>
                <c:pt idx="0">
                  <c:v>130801</c:v>
                </c:pt>
                <c:pt idx="1">
                  <c:v>114383</c:v>
                </c:pt>
                <c:pt idx="2">
                  <c:v>113865</c:v>
                </c:pt>
                <c:pt idx="3">
                  <c:v>110981</c:v>
                </c:pt>
                <c:pt idx="4">
                  <c:v>101013</c:v>
                </c:pt>
                <c:pt idx="5">
                  <c:v>94082</c:v>
                </c:pt>
                <c:pt idx="6">
                  <c:v>92037</c:v>
                </c:pt>
                <c:pt idx="7">
                  <c:v>88726</c:v>
                </c:pt>
                <c:pt idx="8">
                  <c:v>84793</c:v>
                </c:pt>
                <c:pt idx="9">
                  <c:v>84727</c:v>
                </c:pt>
              </c:numCache>
            </c:numRef>
          </c:val>
          <c:extLst>
            <c:ext xmlns:c16="http://schemas.microsoft.com/office/drawing/2014/chart" uri="{C3380CC4-5D6E-409C-BE32-E72D297353CC}">
              <c16:uniqueId val="{00000000-E976-42F8-B306-13AE1264EAAC}"/>
            </c:ext>
          </c:extLst>
        </c:ser>
        <c:dLbls>
          <c:showLegendKey val="0"/>
          <c:showVal val="0"/>
          <c:showCatName val="0"/>
          <c:showSerName val="0"/>
          <c:showPercent val="0"/>
          <c:showBubbleSize val="0"/>
        </c:dLbls>
        <c:gapWidth val="182"/>
        <c:axId val="438881248"/>
        <c:axId val="438885568"/>
      </c:barChart>
      <c:catAx>
        <c:axId val="4388812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CA" b="1" i="0" baseline="0">
                    <a:solidFill>
                      <a:schemeClr val="tx1"/>
                    </a:solidFill>
                  </a:rPr>
                  <a:t>Language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38885568"/>
        <c:crosses val="autoZero"/>
        <c:auto val="1"/>
        <c:lblAlgn val="ctr"/>
        <c:lblOffset val="100"/>
        <c:noMultiLvlLbl val="0"/>
      </c:catAx>
      <c:valAx>
        <c:axId val="438885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CA" b="1" i="0" baseline="0">
                    <a:solidFill>
                      <a:schemeClr val="tx1"/>
                    </a:solidFill>
                  </a:rPr>
                  <a:t>Average Salary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_-[$$-409]* #,##0_ ;_-[$$-409]* \-#,##0\ ;_-[$$-409]* &quot;-&quot;_ ;_-@_ " sourceLinked="0"/>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38881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‹n°›</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17798-EE82-268D-66AD-58FCD08C9BB7}"/>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E644C4B2-68C6-03B0-B86C-C85399E4AD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D2DF75-62DE-D246-6CED-B67775BA01C1}"/>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E0CCA382-1313-8E6A-5CB6-83D1E8EDDA74}"/>
              </a:ext>
            </a:extLst>
          </p:cNvPr>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751653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A0852-89CB-746C-1B07-87E424F0EDEC}"/>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8DE66DFE-8BBF-9DD6-C06B-4556530A23A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2544336-78B9-B9BD-4581-1EC3CD489BAF}"/>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5A60830C-361C-4A2C-0B8A-3EDCA423D020}"/>
              </a:ext>
            </a:extLst>
          </p:cNvPr>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88193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5029-43AA-4C53-3175-EA1B74F62602}"/>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243363EB-C3AB-C302-32E0-B63A52BCB6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0F01E5-CB4D-D947-B57D-52D996EE70D7}"/>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5ECB1855-CE52-2B04-D28F-8B75DD017148}"/>
              </a:ext>
            </a:extLst>
          </p:cNvPr>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190378776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3.xml"/><Relationship Id="rId1" Type="http://schemas.openxmlformats.org/officeDocument/2006/relationships/tags" Target="../tags/tag34.xml"/><Relationship Id="rId4" Type="http://schemas.openxmlformats.org/officeDocument/2006/relationships/chart" Target="../charts/char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3.xml"/><Relationship Id="rId1" Type="http://schemas.openxmlformats.org/officeDocument/2006/relationships/tags" Target="../tags/tag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9591040" y="387350"/>
            <a:ext cx="2388540" cy="2167601"/>
          </a:xfrm>
          <a:prstGeom prst="rect">
            <a:avLst/>
          </a:prstGeom>
          <a:noFill/>
        </p:spPr>
      </p:pic>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1666239" y="387350"/>
            <a:ext cx="7701281" cy="2948652"/>
          </a:xfrm>
          <a:noFill/>
        </p:spPr>
        <p:txBody>
          <a:bodyPr>
            <a:normAutofit fontScale="90000"/>
          </a:bodyPr>
          <a:lstStyle/>
          <a:p>
            <a:pPr algn="l">
              <a:lnSpc>
                <a:spcPct val="100000"/>
              </a:lnSpc>
            </a:pPr>
            <a:r>
              <a:rPr lang="en-US" sz="3600"/>
              <a:t>Project Title: Technology Trends in the Developer Job Market</a:t>
            </a:r>
            <a:br>
              <a:rPr lang="en-US" sz="3600"/>
            </a:br>
            <a:br>
              <a:rPr lang="en-US" sz="3600"/>
            </a:br>
            <a:r>
              <a:rPr lang="en-US" sz="3600"/>
              <a:t>By: Pierre Marie Ntang</a:t>
            </a:r>
            <a:br>
              <a:rPr lang="en-US" sz="3600"/>
            </a:br>
            <a:br>
              <a:rPr lang="en-US" sz="3600"/>
            </a:br>
            <a:r>
              <a:rPr lang="en-US" sz="3600"/>
              <a:t>Date: 2025/11/11</a:t>
            </a:r>
            <a:endParaRPr lang="en-US" sz="3600" dirty="0"/>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3119718" y="1355464"/>
            <a:ext cx="8234082" cy="4821499"/>
          </a:xfrm>
          <a:prstGeom prst="rect">
            <a:avLst/>
          </a:prstGeom>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Executive Summary</a:t>
            </a:r>
          </a:p>
          <a:p>
            <a:r>
              <a:rPr lang="en-US" b="1" dirty="0"/>
              <a:t>Introduction</a:t>
            </a:r>
          </a:p>
          <a:p>
            <a:r>
              <a:rPr lang="en-US" b="1" dirty="0"/>
              <a:t>Methodology</a:t>
            </a:r>
          </a:p>
          <a:p>
            <a:r>
              <a:rPr lang="en-US" b="1" dirty="0"/>
              <a:t>Results</a:t>
            </a:r>
          </a:p>
          <a:p>
            <a:pPr lvl="1"/>
            <a:r>
              <a:rPr lang="en-US" sz="2800" dirty="0"/>
              <a:t>Visualization – Charts</a:t>
            </a:r>
          </a:p>
          <a:p>
            <a:pPr lvl="1"/>
            <a:r>
              <a:rPr lang="en-US" sz="2800" dirty="0"/>
              <a:t>Dashboard</a:t>
            </a:r>
          </a:p>
          <a:p>
            <a:r>
              <a:rPr lang="en-US" b="1" dirty="0"/>
              <a:t>Discussion</a:t>
            </a:r>
          </a:p>
          <a:p>
            <a:pPr lvl="1"/>
            <a:r>
              <a:rPr lang="en-US" sz="2800" dirty="0"/>
              <a:t>Findings &amp; Implications</a:t>
            </a:r>
          </a:p>
          <a:p>
            <a:r>
              <a:rPr lang="en-US" b="1" dirty="0"/>
              <a:t>Conclusion</a:t>
            </a:r>
          </a:p>
          <a:p>
            <a:r>
              <a:rPr lang="en-US" b="1" dirty="0"/>
              <a:t>Appendix</a:t>
            </a: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3941379" y="1360658"/>
            <a:ext cx="7412421" cy="4930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400" b="1" dirty="0"/>
              <a:t>Python and JavaScript</a:t>
            </a:r>
            <a:r>
              <a:rPr lang="en-US" sz="2400" dirty="0"/>
              <a:t> dominate current job market demand and future developer interest.</a:t>
            </a:r>
          </a:p>
          <a:p>
            <a:r>
              <a:rPr lang="en-US" sz="2400" b="1" dirty="0"/>
              <a:t>SQL and PostgreSQL</a:t>
            </a:r>
            <a:r>
              <a:rPr lang="en-US" sz="2400" dirty="0"/>
              <a:t> are critical database skills, showing high current usage and strong future demand.</a:t>
            </a:r>
          </a:p>
          <a:p>
            <a:r>
              <a:rPr lang="en-US" sz="2400" b="1" dirty="0"/>
              <a:t>Cloud platforms, especially AWS,</a:t>
            </a:r>
            <a:r>
              <a:rPr lang="en-US" sz="2400" dirty="0"/>
              <a:t> are the most desired technology for future projects.</a:t>
            </a:r>
          </a:p>
          <a:p>
            <a:r>
              <a:rPr lang="en-US" sz="2400" dirty="0"/>
              <a:t>The developer demographic is predominantly </a:t>
            </a:r>
            <a:r>
              <a:rPr lang="en-US" sz="2400" b="1" dirty="0"/>
              <a:t>25-34 years old</a:t>
            </a:r>
            <a:r>
              <a:rPr lang="en-US" sz="2400" dirty="0"/>
              <a:t>, holding a Bachelor's degree.</a:t>
            </a:r>
          </a:p>
          <a:p>
            <a:r>
              <a:rPr lang="en-US" sz="2400" dirty="0"/>
              <a:t>High salaries for </a:t>
            </a:r>
            <a:r>
              <a:rPr lang="en-US" sz="2400" b="1" dirty="0"/>
              <a:t>Swift and C++</a:t>
            </a:r>
            <a:r>
              <a:rPr lang="en-US" sz="2400" dirty="0"/>
              <a:t> indicate premium value for niche and performance-critical skills.</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3941379" y="1690688"/>
            <a:ext cx="7647865" cy="50569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400" b="1" dirty="0">
                <a:solidFill>
                  <a:schemeClr val="tx1"/>
                </a:solidFill>
                <a:latin typeface="+mn-lt"/>
              </a:rPr>
              <a:t>Purpose:</a:t>
            </a:r>
            <a:r>
              <a:rPr lang="en-US" sz="2400" dirty="0">
                <a:solidFill>
                  <a:schemeClr val="tx1"/>
                </a:solidFill>
                <a:latin typeface="+mn-lt"/>
              </a:rPr>
              <a:t> To analyze current and emerging trends in programming languages and databases to guide career and learning paths for aspiring data analysts and developers.</a:t>
            </a:r>
          </a:p>
          <a:p>
            <a:endParaRPr lang="en-US" sz="2400" dirty="0">
              <a:solidFill>
                <a:schemeClr val="tx1"/>
              </a:solidFill>
              <a:latin typeface="+mn-lt"/>
            </a:endParaRPr>
          </a:p>
          <a:p>
            <a:r>
              <a:rPr lang="en-US" sz="2400" b="1" dirty="0">
                <a:solidFill>
                  <a:schemeClr val="tx1"/>
                </a:solidFill>
                <a:latin typeface="+mn-lt"/>
              </a:rPr>
              <a:t>Target Audience:</a:t>
            </a:r>
            <a:r>
              <a:rPr lang="en-US" sz="2400" dirty="0">
                <a:solidFill>
                  <a:schemeClr val="tx1"/>
                </a:solidFill>
                <a:latin typeface="+mn-lt"/>
              </a:rPr>
              <a:t> Job seekers, career switchers, educational institutions, and corporate L&amp;D departments.</a:t>
            </a:r>
          </a:p>
          <a:p>
            <a:endParaRPr lang="en-US" sz="2400" dirty="0">
              <a:solidFill>
                <a:schemeClr val="tx1"/>
              </a:solidFill>
              <a:latin typeface="+mn-lt"/>
            </a:endParaRPr>
          </a:p>
          <a:p>
            <a:r>
              <a:rPr lang="en-US" sz="2400" b="1" dirty="0">
                <a:solidFill>
                  <a:schemeClr val="tx1"/>
                </a:solidFill>
                <a:latin typeface="+mn-lt"/>
              </a:rPr>
              <a:t>Value:</a:t>
            </a:r>
            <a:r>
              <a:rPr lang="en-US" sz="2400" dirty="0">
                <a:solidFill>
                  <a:schemeClr val="tx1"/>
                </a:solidFill>
                <a:latin typeface="+mn-lt"/>
              </a:rPr>
              <a:t> Provides data-driven insights into which technologies are in high demand and offer the best financial returns, enabling informed decision-making.</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143620" y="1405211"/>
            <a:ext cx="7068725"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CA" sz="2400" b="1" dirty="0"/>
              <a:t>Data Sources:</a:t>
            </a:r>
            <a:endParaRPr lang="fr-CA" sz="2400" dirty="0"/>
          </a:p>
          <a:p>
            <a:pPr lvl="1"/>
            <a:r>
              <a:rPr lang="fr-CA" dirty="0"/>
              <a:t>Stack </a:t>
            </a:r>
            <a:r>
              <a:rPr lang="fr-CA" dirty="0" err="1"/>
              <a:t>Overflow</a:t>
            </a:r>
            <a:r>
              <a:rPr lang="fr-CA" dirty="0"/>
              <a:t> </a:t>
            </a:r>
            <a:r>
              <a:rPr lang="fr-CA" dirty="0" err="1"/>
              <a:t>Developer</a:t>
            </a:r>
            <a:r>
              <a:rPr lang="fr-CA" dirty="0"/>
              <a:t> Survey (for </a:t>
            </a:r>
            <a:r>
              <a:rPr lang="fr-CA" dirty="0" err="1"/>
              <a:t>current</a:t>
            </a:r>
            <a:r>
              <a:rPr lang="fr-CA" dirty="0"/>
              <a:t> usage and future </a:t>
            </a:r>
            <a:r>
              <a:rPr lang="fr-CA" dirty="0" err="1"/>
              <a:t>desire</a:t>
            </a:r>
            <a:r>
              <a:rPr lang="fr-CA" dirty="0"/>
              <a:t>).</a:t>
            </a:r>
          </a:p>
          <a:p>
            <a:pPr lvl="1"/>
            <a:r>
              <a:rPr lang="fr-CA" dirty="0"/>
              <a:t>Job </a:t>
            </a:r>
            <a:r>
              <a:rPr lang="fr-CA" dirty="0" err="1"/>
              <a:t>Postings</a:t>
            </a:r>
            <a:r>
              <a:rPr lang="fr-CA" dirty="0"/>
              <a:t> API (job_postings.xlsx).</a:t>
            </a:r>
          </a:p>
          <a:p>
            <a:pPr lvl="1"/>
            <a:r>
              <a:rPr lang="fr-CA" dirty="0"/>
              <a:t>Web </a:t>
            </a:r>
            <a:r>
              <a:rPr lang="fr-CA" dirty="0" err="1"/>
              <a:t>Scraping</a:t>
            </a:r>
            <a:r>
              <a:rPr lang="fr-CA" dirty="0"/>
              <a:t> of </a:t>
            </a:r>
            <a:r>
              <a:rPr lang="fr-CA" dirty="0" err="1"/>
              <a:t>salary</a:t>
            </a:r>
            <a:r>
              <a:rPr lang="fr-CA" dirty="0"/>
              <a:t> data (popular-languages.xlsx).</a:t>
            </a:r>
          </a:p>
          <a:p>
            <a:pPr lvl="1"/>
            <a:endParaRPr lang="fr-CA" dirty="0"/>
          </a:p>
          <a:p>
            <a:r>
              <a:rPr lang="fr-CA" sz="2400" b="1" dirty="0"/>
              <a:t>Collection Methods:</a:t>
            </a:r>
            <a:r>
              <a:rPr lang="fr-CA" sz="2400" dirty="0"/>
              <a:t> </a:t>
            </a:r>
            <a:r>
              <a:rPr lang="fr-CA" sz="2400" dirty="0" err="1"/>
              <a:t>Automated</a:t>
            </a:r>
            <a:r>
              <a:rPr lang="fr-CA" sz="2400" dirty="0"/>
              <a:t> API calls, web </a:t>
            </a:r>
            <a:r>
              <a:rPr lang="fr-CA" sz="2400" dirty="0" err="1"/>
              <a:t>scraping</a:t>
            </a:r>
            <a:r>
              <a:rPr lang="fr-CA" sz="2400" dirty="0"/>
              <a:t>, and </a:t>
            </a:r>
            <a:r>
              <a:rPr lang="fr-CA" sz="2400" dirty="0" err="1"/>
              <a:t>survey</a:t>
            </a:r>
            <a:r>
              <a:rPr lang="fr-CA" sz="2400" dirty="0"/>
              <a:t> data </a:t>
            </a:r>
            <a:r>
              <a:rPr lang="fr-CA" sz="2400" dirty="0" err="1"/>
              <a:t>aggregation</a:t>
            </a:r>
            <a:r>
              <a:rPr lang="fr-CA" sz="2400" dirty="0"/>
              <a:t>.</a:t>
            </a:r>
          </a:p>
          <a:p>
            <a:endParaRPr lang="fr-CA" sz="2400" dirty="0"/>
          </a:p>
          <a:p>
            <a:r>
              <a:rPr lang="fr-CA" sz="2400" b="1" dirty="0"/>
              <a:t>Key </a:t>
            </a:r>
            <a:r>
              <a:rPr lang="fr-CA" sz="2400" b="1" dirty="0" err="1"/>
              <a:t>Wrangling</a:t>
            </a:r>
            <a:r>
              <a:rPr lang="fr-CA" sz="2400" b="1" dirty="0"/>
              <a:t> </a:t>
            </a:r>
            <a:r>
              <a:rPr lang="fr-CA" sz="2400" b="1" dirty="0" err="1"/>
              <a:t>Steps</a:t>
            </a:r>
            <a:r>
              <a:rPr lang="fr-CA" sz="2400" b="1" dirty="0"/>
              <a:t>:</a:t>
            </a:r>
            <a:r>
              <a:rPr lang="fr-CA" sz="2400" dirty="0"/>
              <a:t> Data </a:t>
            </a:r>
            <a:r>
              <a:rPr lang="fr-CA" sz="2400" dirty="0" err="1"/>
              <a:t>cleaning</a:t>
            </a:r>
            <a:r>
              <a:rPr lang="fr-CA" sz="2400" dirty="0"/>
              <a:t>, handling </a:t>
            </a:r>
            <a:r>
              <a:rPr lang="fr-CA" sz="2400" dirty="0" err="1"/>
              <a:t>missing</a:t>
            </a:r>
            <a:r>
              <a:rPr lang="fr-CA" sz="2400" dirty="0"/>
              <a:t> values, </a:t>
            </a:r>
            <a:r>
              <a:rPr lang="fr-CA" sz="2400" dirty="0" err="1"/>
              <a:t>aggregating</a:t>
            </a:r>
            <a:r>
              <a:rPr lang="fr-CA" sz="2400" dirty="0"/>
              <a:t> </a:t>
            </a:r>
            <a:r>
              <a:rPr lang="fr-CA" sz="2400" dirty="0" err="1"/>
              <a:t>counts</a:t>
            </a:r>
            <a:r>
              <a:rPr lang="fr-CA" sz="2400" dirty="0"/>
              <a:t>, and </a:t>
            </a:r>
            <a:r>
              <a:rPr lang="fr-CA" sz="2400" dirty="0" err="1"/>
              <a:t>calculating</a:t>
            </a:r>
            <a:r>
              <a:rPr lang="fr-CA" sz="2400" dirty="0"/>
              <a:t> percentages for comparative </a:t>
            </a:r>
            <a:r>
              <a:rPr lang="fr-CA" sz="2400" dirty="0" err="1"/>
              <a:t>analysis</a:t>
            </a:r>
            <a:r>
              <a:rPr lang="fr-CA" sz="2400" dirty="0"/>
              <a:t>.</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p:spPr>
        <p:txBody>
          <a:bodyPr>
            <a:normAutofit fontScale="85000" lnSpcReduction="10000"/>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p:spPr>
        <p:txBody>
          <a:bodyPr>
            <a:normAutofit fontScale="85000" lnSpcReduction="10000"/>
          </a:bodyPr>
          <a:lstStyle/>
          <a:p>
            <a:pPr marL="0" indent="0">
              <a:buNone/>
            </a:pPr>
            <a:r>
              <a:rPr lang="en-US" dirty="0"/>
              <a:t>Next Years</a:t>
            </a:r>
          </a:p>
        </p:txBody>
      </p:sp>
      <p:pic>
        <p:nvPicPr>
          <p:cNvPr id="2" name="Picture 1" descr="A screenshot of a graph&#10;&#10;AI-generated content may be incorrect.">
            <a:extLst>
              <a:ext uri="{FF2B5EF4-FFF2-40B4-BE49-F238E27FC236}">
                <a16:creationId xmlns:a16="http://schemas.microsoft.com/office/drawing/2014/main" id="{9DE434E4-C442-336D-7F6D-5B206BBD32F7}"/>
              </a:ext>
            </a:extLst>
          </p:cNvPr>
          <p:cNvPicPr>
            <a:picLocks noChangeAspect="1"/>
          </p:cNvPicPr>
          <p:nvPr/>
        </p:nvPicPr>
        <p:blipFill>
          <a:blip r:embed="rId3"/>
          <a:stretch>
            <a:fillRect/>
          </a:stretch>
        </p:blipFill>
        <p:spPr>
          <a:xfrm>
            <a:off x="267413" y="2327564"/>
            <a:ext cx="5215536" cy="3911534"/>
          </a:xfrm>
          <a:prstGeom prst="rect">
            <a:avLst/>
          </a:prstGeom>
        </p:spPr>
      </p:pic>
      <p:pic>
        <p:nvPicPr>
          <p:cNvPr id="3" name="Picture 1" descr="A screenshot of a graph&#10;&#10;AI-generated content may be incorrect.">
            <a:extLst>
              <a:ext uri="{FF2B5EF4-FFF2-40B4-BE49-F238E27FC236}">
                <a16:creationId xmlns:a16="http://schemas.microsoft.com/office/drawing/2014/main" id="{EA902EA4-8F7A-DA84-7865-4BD3C28E2C87}"/>
              </a:ext>
            </a:extLst>
          </p:cNvPr>
          <p:cNvPicPr>
            <a:picLocks noChangeAspect="1"/>
          </p:cNvPicPr>
          <p:nvPr/>
        </p:nvPicPr>
        <p:blipFill>
          <a:blip r:embed="rId4"/>
          <a:stretch>
            <a:fillRect/>
          </a:stretch>
        </p:blipFill>
        <p:spPr>
          <a:xfrm>
            <a:off x="6285186" y="2325327"/>
            <a:ext cx="5475890" cy="3911534"/>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800"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normAutofit fontScale="77500" lnSpcReduction="20000"/>
          </a:bodyPr>
          <a:lstStyle/>
          <a:p>
            <a:pPr marL="0" indent="0">
              <a:buNone/>
            </a:pPr>
            <a:r>
              <a:rPr lang="en-US" dirty="0"/>
              <a:t>Findings</a:t>
            </a:r>
          </a:p>
          <a:p>
            <a:r>
              <a:rPr lang="en-CA" dirty="0"/>
              <a:t>The web stack, HTML, CSS, JavaScript (TypeScript), and PHP (to a lesser extent) continue to dominate in terms of the most widely used languages or combinations of languages. It is worth noting the presence of SQL and Python among the most sought-after language combinations</a:t>
            </a:r>
            <a:endParaRPr lang="en-US" dirty="0"/>
          </a:p>
          <a:p>
            <a:r>
              <a:rPr lang="en-CA" dirty="0"/>
              <a:t>C# stands alone as the most widely used traditional language at present; no doubt this has something to do with the dominance of Microsoft hard/software and its cloud infrastructure.</a:t>
            </a:r>
            <a:endParaRPr lang="fr-CA"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normAutofit fontScale="77500" lnSpcReduction="20000"/>
          </a:bodyPr>
          <a:lstStyle/>
          <a:p>
            <a:pPr marL="0" indent="0">
              <a:buNone/>
            </a:pPr>
            <a:r>
              <a:rPr lang="en-US" dirty="0"/>
              <a:t>Implications</a:t>
            </a:r>
          </a:p>
          <a:p>
            <a:pPr marL="0" indent="0">
              <a:buNone/>
            </a:pPr>
            <a:endParaRPr lang="en-US" dirty="0"/>
          </a:p>
          <a:p>
            <a:r>
              <a:rPr lang="en-US" dirty="0"/>
              <a:t>Training should emphasize the </a:t>
            </a:r>
            <a:r>
              <a:rPr lang="en-CA" dirty="0"/>
              <a:t>web stack HTML, CSS, JavaScript (TypeScript), PHP (to a lesser extent) and </a:t>
            </a:r>
            <a:r>
              <a:rPr lang="en-US" dirty="0"/>
              <a:t>Python, SQL for employability.</a:t>
            </a:r>
          </a:p>
          <a:p>
            <a:endParaRPr lang="en-US" dirty="0"/>
          </a:p>
          <a:p>
            <a:endParaRPr lang="en-US" dirty="0"/>
          </a:p>
          <a:p>
            <a:r>
              <a:rPr lang="en-US" dirty="0"/>
              <a:t>Beyond the C# language itself, which is a worthwhile investment to learn and master, one should consider specializing in cloud computing to ensure employability.</a:t>
            </a:r>
          </a:p>
          <a:p>
            <a:endParaRPr lang="en-US" dirty="0"/>
          </a:p>
          <a:p>
            <a:endParaRPr lang="en-US" dirty="0"/>
          </a:p>
        </p:txBody>
      </p:sp>
      <p:sp>
        <p:nvSpPr>
          <p:cNvPr id="5" name="Rectangle 1">
            <a:extLst>
              <a:ext uri="{FF2B5EF4-FFF2-40B4-BE49-F238E27FC236}">
                <a16:creationId xmlns:a16="http://schemas.microsoft.com/office/drawing/2014/main" id="{99C7A382-F541-33CD-1F26-164EA3F1E26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a:ln>
                  <a:noFill/>
                </a:ln>
                <a:solidFill>
                  <a:schemeClr val="tx1"/>
                </a:solidFill>
                <a:effectLst/>
                <a:latin typeface="Arial" panose="020B0604020202020204" pitchFamily="34" charset="0"/>
              </a:rPr>
              <a:t>Beyond the C# language itself, which is a worthwhile investment to learn and master, one should consider specializing in cloud computing to ensure employability.</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D7CCA-B4B9-E8B9-5C30-5C1DECF6E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8480D-226A-8604-2AAE-1016876CD8F8}"/>
              </a:ext>
            </a:extLst>
          </p:cNvPr>
          <p:cNvSpPr>
            <a:spLocks noGrp="1"/>
          </p:cNvSpPr>
          <p:nvPr>
            <p:ph type="title"/>
          </p:nvPr>
        </p:nvSpPr>
        <p:spPr>
          <a:xfrm>
            <a:off x="838200" y="365125"/>
            <a:ext cx="10515600" cy="1325563"/>
          </a:xfrm>
        </p:spPr>
        <p:txBody>
          <a:bodyPr>
            <a:normAutofit/>
          </a:bodyPr>
          <a:lstStyle/>
          <a:p>
            <a:r>
              <a:rPr lang="en-US" sz="2800" dirty="0"/>
              <a:t>PROGRAMMING LANGUAGE TRENDS - FINDINGS &amp; IMPLICATIONS</a:t>
            </a:r>
          </a:p>
        </p:txBody>
      </p:sp>
      <p:sp>
        <p:nvSpPr>
          <p:cNvPr id="3" name="Content Placeholder 2">
            <a:extLst>
              <a:ext uri="{FF2B5EF4-FFF2-40B4-BE49-F238E27FC236}">
                <a16:creationId xmlns:a16="http://schemas.microsoft.com/office/drawing/2014/main" id="{F3668614-092B-38D3-53CE-1651BA9AA0C6}"/>
              </a:ext>
            </a:extLst>
          </p:cNvPr>
          <p:cNvSpPr>
            <a:spLocks noGrp="1"/>
          </p:cNvSpPr>
          <p:nvPr>
            <p:ph sz="half" idx="1"/>
          </p:nvPr>
        </p:nvSpPr>
        <p:spPr>
          <a:xfrm>
            <a:off x="813816" y="1825625"/>
            <a:ext cx="5181600" cy="4351338"/>
          </a:xfrm>
        </p:spPr>
        <p:txBody>
          <a:bodyPr>
            <a:normAutofit fontScale="92500" lnSpcReduction="20000"/>
          </a:bodyPr>
          <a:lstStyle/>
          <a:p>
            <a:pPr marL="0" indent="0">
              <a:buNone/>
            </a:pPr>
            <a:r>
              <a:rPr lang="en-US" dirty="0"/>
              <a:t>Findings</a:t>
            </a:r>
          </a:p>
          <a:p>
            <a:pPr marL="0" indent="0">
              <a:buNone/>
            </a:pPr>
            <a:endParaRPr lang="en-US" dirty="0"/>
          </a:p>
          <a:p>
            <a:r>
              <a:rPr lang="en-CA" dirty="0"/>
              <a:t>The trend looks set to continue in the future, but with one nuance: Python will become more popular, while C# and SQL will be increasingly in demand. The PowerShell scripting language is expected to disappear from the top 10 most in-demand languages; is this a result of the widespread adoption of the cloud?</a:t>
            </a:r>
            <a:endParaRPr lang="fr-CA" dirty="0"/>
          </a:p>
        </p:txBody>
      </p:sp>
      <p:sp>
        <p:nvSpPr>
          <p:cNvPr id="4" name="Content Placeholder 3">
            <a:extLst>
              <a:ext uri="{FF2B5EF4-FFF2-40B4-BE49-F238E27FC236}">
                <a16:creationId xmlns:a16="http://schemas.microsoft.com/office/drawing/2014/main" id="{7E2703DA-6CD1-5013-C279-82F3443DE55B}"/>
              </a:ext>
            </a:extLst>
          </p:cNvPr>
          <p:cNvSpPr>
            <a:spLocks noGrp="1"/>
          </p:cNvSpPr>
          <p:nvPr>
            <p:ph sz="half" idx="2"/>
          </p:nvPr>
        </p:nvSpPr>
        <p:spPr>
          <a:xfrm>
            <a:off x="6172200" y="1825625"/>
            <a:ext cx="5181600" cy="4351338"/>
          </a:xfrm>
        </p:spPr>
        <p:txBody>
          <a:bodyPr>
            <a:normAutofit fontScale="92500" lnSpcReduction="20000"/>
          </a:bodyPr>
          <a:lstStyle/>
          <a:p>
            <a:pPr marL="0" indent="0">
              <a:buNone/>
            </a:pPr>
            <a:r>
              <a:rPr lang="en-US" dirty="0"/>
              <a:t>Implications</a:t>
            </a:r>
          </a:p>
          <a:p>
            <a:pPr marL="0" indent="0">
              <a:buNone/>
            </a:pPr>
            <a:endParaRPr lang="en-US" dirty="0"/>
          </a:p>
          <a:p>
            <a:r>
              <a:rPr lang="en-US" dirty="0"/>
              <a:t>The cloud is no longer just an option, but a major trend, as evidenced by the decline in non-mandatory languages in cloud usage. On the other hand, languages considered essential for the cloud will be increasingly in demand. It is therefore crucial to invest in these languages.</a:t>
            </a:r>
          </a:p>
        </p:txBody>
      </p:sp>
    </p:spTree>
    <p:custDataLst>
      <p:tags r:id="rId1"/>
    </p:custDataLst>
    <p:extLst>
      <p:ext uri="{BB962C8B-B14F-4D97-AF65-F5344CB8AC3E}">
        <p14:creationId xmlns:p14="http://schemas.microsoft.com/office/powerpoint/2010/main" val="3955206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normAutofit fontScale="85000" lnSpcReduction="10000"/>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normAutofit fontScale="85000" lnSpcReduction="10000"/>
          </a:bodyPr>
          <a:lstStyle/>
          <a:p>
            <a:pPr marL="0" indent="0">
              <a:buNone/>
            </a:pPr>
            <a:r>
              <a:rPr lang="en-US" dirty="0"/>
              <a:t>Next Years</a:t>
            </a:r>
          </a:p>
        </p:txBody>
      </p:sp>
      <p:pic>
        <p:nvPicPr>
          <p:cNvPr id="7" name="Picture 1" descr="A screenshot of a graph&#10;&#10;AI-generated content may be incorrect.">
            <a:extLst>
              <a:ext uri="{FF2B5EF4-FFF2-40B4-BE49-F238E27FC236}">
                <a16:creationId xmlns:a16="http://schemas.microsoft.com/office/drawing/2014/main" id="{8338D775-ADBD-528F-C1A1-4AE7B850EDA3}"/>
              </a:ext>
            </a:extLst>
          </p:cNvPr>
          <p:cNvPicPr>
            <a:picLocks noChangeAspect="1"/>
          </p:cNvPicPr>
          <p:nvPr/>
        </p:nvPicPr>
        <p:blipFill>
          <a:blip r:embed="rId3"/>
          <a:stretch>
            <a:fillRect/>
          </a:stretch>
        </p:blipFill>
        <p:spPr>
          <a:xfrm>
            <a:off x="396418" y="2398858"/>
            <a:ext cx="5289680" cy="3967141"/>
          </a:xfrm>
          <a:prstGeom prst="rect">
            <a:avLst/>
          </a:prstGeom>
        </p:spPr>
      </p:pic>
      <p:pic>
        <p:nvPicPr>
          <p:cNvPr id="9" name="Picture 1" descr="A screenshot of a computer&#10;&#10;AI-generated content may be incorrect.">
            <a:extLst>
              <a:ext uri="{FF2B5EF4-FFF2-40B4-BE49-F238E27FC236}">
                <a16:creationId xmlns:a16="http://schemas.microsoft.com/office/drawing/2014/main" id="{3A6A8CF1-00A9-49E2-4738-98D838EEA645}"/>
              </a:ext>
            </a:extLst>
          </p:cNvPr>
          <p:cNvPicPr>
            <a:picLocks noChangeAspect="1"/>
          </p:cNvPicPr>
          <p:nvPr/>
        </p:nvPicPr>
        <p:blipFill>
          <a:blip r:embed="rId4"/>
          <a:stretch>
            <a:fillRect/>
          </a:stretch>
        </p:blipFill>
        <p:spPr>
          <a:xfrm>
            <a:off x="6019801" y="2327564"/>
            <a:ext cx="5358383" cy="4018667"/>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9" name="Content Placeholder 2">
            <a:extLst>
              <a:ext uri="{FF2B5EF4-FFF2-40B4-BE49-F238E27FC236}">
                <a16:creationId xmlns:a16="http://schemas.microsoft.com/office/drawing/2014/main" id="{7DCB4D4C-2218-1E0D-05DD-F921E162DF9C}"/>
              </a:ext>
            </a:extLst>
          </p:cNvPr>
          <p:cNvSpPr>
            <a:spLocks noGrp="1"/>
          </p:cNvSpPr>
          <p:nvPr>
            <p:ph idx="1"/>
          </p:nvPr>
        </p:nvSpPr>
        <p:spPr>
          <a:xfrm>
            <a:off x="2117835" y="1690688"/>
            <a:ext cx="8229600" cy="4802187"/>
          </a:xfrm>
        </p:spPr>
        <p:txBody>
          <a:bodyPr>
            <a:normAutofit/>
          </a:bodyPr>
          <a:lstStyle/>
          <a:p>
            <a:r>
              <a:rPr sz="2400" dirty="0"/>
              <a:t>Using dashboard insights, relational databases remain dominant.</a:t>
            </a:r>
            <a:endParaRPr lang="en-US" sz="2400" dirty="0"/>
          </a:p>
          <a:p>
            <a:endParaRPr sz="2400" dirty="0"/>
          </a:p>
          <a:p>
            <a:r>
              <a:rPr sz="2400" dirty="0"/>
              <a:t>Cloud-hosted and NoSQL options continue to grow with application scale.</a:t>
            </a:r>
            <a:endParaRPr lang="en-US" sz="2400" dirty="0"/>
          </a:p>
          <a:p>
            <a:endParaRPr sz="2400" dirty="0"/>
          </a:p>
          <a:p>
            <a:r>
              <a:rPr sz="2400" dirty="0"/>
              <a:t>Future demand points to managed, scalable database services.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C7F8A-C203-CE5C-31E9-538800D81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AD54A-CD60-F16F-8256-B93028ED9138}"/>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D16A4721-3F0B-FB22-E48C-C53B9C5A2323}"/>
              </a:ext>
            </a:extLst>
          </p:cNvPr>
          <p:cNvSpPr>
            <a:spLocks noGrp="1"/>
          </p:cNvSpPr>
          <p:nvPr>
            <p:ph sz="half" idx="1"/>
          </p:nvPr>
        </p:nvSpPr>
        <p:spPr>
          <a:xfrm>
            <a:off x="813816" y="1825625"/>
            <a:ext cx="5181600" cy="4351338"/>
          </a:xfrm>
        </p:spPr>
        <p:txBody>
          <a:bodyPr>
            <a:normAutofit fontScale="70000" lnSpcReduction="20000"/>
          </a:bodyPr>
          <a:lstStyle/>
          <a:p>
            <a:pPr marL="0" indent="0">
              <a:buNone/>
            </a:pPr>
            <a:r>
              <a:rPr lang="en-US" dirty="0"/>
              <a:t>Findings</a:t>
            </a:r>
          </a:p>
          <a:p>
            <a:pPr marL="0" indent="0">
              <a:buNone/>
            </a:pPr>
            <a:endParaRPr lang="en-US" dirty="0"/>
          </a:p>
          <a:p>
            <a:pPr algn="just"/>
            <a:r>
              <a:rPr lang="en-US" dirty="0"/>
              <a:t>Traditional SQL databases are still widely used.</a:t>
            </a:r>
          </a:p>
          <a:p>
            <a:pPr algn="just"/>
            <a:endParaRPr lang="en-US" dirty="0"/>
          </a:p>
          <a:p>
            <a:pPr algn="just"/>
            <a:r>
              <a:rPr lang="en-US" dirty="0"/>
              <a:t>Future-facing roles expect familiarity with cloud </a:t>
            </a:r>
            <a:r>
              <a:rPr lang="en-US" dirty="0" err="1"/>
              <a:t>DBs.</a:t>
            </a:r>
            <a:endParaRPr lang="en-US" dirty="0"/>
          </a:p>
          <a:p>
            <a:pPr algn="just"/>
            <a:endParaRPr lang="en-US" dirty="0"/>
          </a:p>
          <a:p>
            <a:pPr algn="just"/>
            <a:r>
              <a:rPr lang="en-US" dirty="0"/>
              <a:t>We see SQLite's role growing stronger in the future, which is both an indicator of diversification and a shift toward the cloud, since it is more of a cross-functional SQL tool in a cloud environment than in a traditional relational database management environment.</a:t>
            </a:r>
          </a:p>
          <a:p>
            <a:endParaRPr lang="en-US" dirty="0"/>
          </a:p>
          <a:p>
            <a:endParaRPr lang="en-US" dirty="0"/>
          </a:p>
        </p:txBody>
      </p:sp>
      <p:sp>
        <p:nvSpPr>
          <p:cNvPr id="4" name="Content Placeholder 3">
            <a:extLst>
              <a:ext uri="{FF2B5EF4-FFF2-40B4-BE49-F238E27FC236}">
                <a16:creationId xmlns:a16="http://schemas.microsoft.com/office/drawing/2014/main" id="{AE7BFDD8-B2EB-687E-9A8B-30745DE79C21}"/>
              </a:ext>
            </a:extLst>
          </p:cNvPr>
          <p:cNvSpPr>
            <a:spLocks noGrp="1"/>
          </p:cNvSpPr>
          <p:nvPr>
            <p:ph sz="half" idx="2"/>
          </p:nvPr>
        </p:nvSpPr>
        <p:spPr>
          <a:xfrm>
            <a:off x="6172200" y="1825625"/>
            <a:ext cx="5181600" cy="4351338"/>
          </a:xfrm>
        </p:spPr>
        <p:txBody>
          <a:bodyPr>
            <a:normAutofit fontScale="70000" lnSpcReduction="20000"/>
          </a:bodyPr>
          <a:lstStyle/>
          <a:p>
            <a:pPr marL="0" indent="0">
              <a:buNone/>
            </a:pPr>
            <a:r>
              <a:rPr lang="en-US" dirty="0"/>
              <a:t>Implications</a:t>
            </a:r>
          </a:p>
          <a:p>
            <a:pPr marL="0" indent="0" algn="just">
              <a:buNone/>
            </a:pPr>
            <a:endParaRPr lang="en-US" dirty="0"/>
          </a:p>
          <a:p>
            <a:pPr algn="just"/>
            <a:r>
              <a:rPr lang="en-US" dirty="0"/>
              <a:t>Include SQL in all core training tracks.</a:t>
            </a:r>
          </a:p>
          <a:p>
            <a:pPr algn="just"/>
            <a:endParaRPr lang="en-US" dirty="0"/>
          </a:p>
          <a:p>
            <a:pPr algn="just"/>
            <a:endParaRPr lang="en-US" dirty="0"/>
          </a:p>
          <a:p>
            <a:pPr algn="just"/>
            <a:r>
              <a:rPr lang="en-US" dirty="0"/>
              <a:t>Add modules on cloud-native databases.</a:t>
            </a:r>
          </a:p>
          <a:p>
            <a:pPr algn="just"/>
            <a:endParaRPr lang="en-US" dirty="0"/>
          </a:p>
          <a:p>
            <a:pPr algn="just"/>
            <a:r>
              <a:rPr lang="en-US" dirty="0"/>
              <a:t>Skill diversification improves job readiness. It is therefore advisable to rely on traditional SQL technologies to seek expertise in emerging but already essential technologies such as the Cloud.</a:t>
            </a:r>
          </a:p>
          <a:p>
            <a:endParaRPr lang="en-US" dirty="0"/>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3048800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
        <p:nvSpPr>
          <p:cNvPr id="5" name="Content Placeholder 2">
            <a:extLst>
              <a:ext uri="{FF2B5EF4-FFF2-40B4-BE49-F238E27FC236}">
                <a16:creationId xmlns:a16="http://schemas.microsoft.com/office/drawing/2014/main" id="{2374FB93-A7DF-07DE-95DA-A667812BEEFD}"/>
              </a:ext>
            </a:extLst>
          </p:cNvPr>
          <p:cNvSpPr>
            <a:spLocks noGrp="1"/>
          </p:cNvSpPr>
          <p:nvPr>
            <p:ph idx="1"/>
          </p:nvPr>
        </p:nvSpPr>
        <p:spPr>
          <a:xfrm>
            <a:off x="3945366" y="1400504"/>
            <a:ext cx="7408434" cy="4525963"/>
          </a:xfrm>
        </p:spPr>
        <p:txBody>
          <a:bodyPr/>
          <a:lstStyle/>
          <a:p>
            <a:r>
              <a:rPr dirty="0"/>
              <a:t>The following dashboards were created in Cognos </a:t>
            </a:r>
            <a:r>
              <a:rPr lang="en-US" dirty="0"/>
              <a:t>Analytics</a:t>
            </a:r>
            <a:r>
              <a:rPr dirty="0"/>
              <a:t>:</a:t>
            </a:r>
            <a:endParaRPr lang="en-US" dirty="0"/>
          </a:p>
          <a:p>
            <a:pPr marL="0" indent="0">
              <a:buNone/>
            </a:pPr>
            <a:endParaRPr dirty="0"/>
          </a:p>
          <a:p>
            <a:r>
              <a:rPr dirty="0"/>
              <a:t> Current Technology Usage</a:t>
            </a:r>
            <a:endParaRPr lang="en-US" dirty="0"/>
          </a:p>
          <a:p>
            <a:endParaRPr dirty="0"/>
          </a:p>
          <a:p>
            <a:r>
              <a:rPr dirty="0"/>
              <a:t>Future Technology Trends</a:t>
            </a:r>
            <a:endParaRPr lang="en-US" dirty="0"/>
          </a:p>
          <a:p>
            <a:endParaRPr dirty="0"/>
          </a:p>
          <a:p>
            <a:r>
              <a:rPr dirty="0"/>
              <a:t>Demographics</a:t>
            </a: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Current Technology Usage </a:t>
            </a:r>
          </a:p>
        </p:txBody>
      </p:sp>
      <p:pic>
        <p:nvPicPr>
          <p:cNvPr id="6" name="Picture 1" descr="A screenshot of a computer&#10;&#10;AI-generated content may be incorrect.">
            <a:extLst>
              <a:ext uri="{FF2B5EF4-FFF2-40B4-BE49-F238E27FC236}">
                <a16:creationId xmlns:a16="http://schemas.microsoft.com/office/drawing/2014/main" id="{D1410F4C-6575-0E32-CFCB-9DAC688C5954}"/>
              </a:ext>
            </a:extLst>
          </p:cNvPr>
          <p:cNvPicPr>
            <a:picLocks noChangeAspect="1"/>
          </p:cNvPicPr>
          <p:nvPr/>
        </p:nvPicPr>
        <p:blipFill>
          <a:blip r:embed="rId3"/>
          <a:stretch>
            <a:fillRect/>
          </a:stretch>
        </p:blipFill>
        <p:spPr>
          <a:xfrm>
            <a:off x="2295905" y="1421250"/>
            <a:ext cx="8056783" cy="5424557"/>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20A6D-BBD7-9373-ED0B-E734FAA0D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50871-3845-DE19-1DD8-D2A78AF88C33}"/>
              </a:ext>
            </a:extLst>
          </p:cNvPr>
          <p:cNvSpPr>
            <a:spLocks noGrp="1"/>
          </p:cNvSpPr>
          <p:nvPr>
            <p:ph type="title"/>
          </p:nvPr>
        </p:nvSpPr>
        <p:spPr>
          <a:xfrm>
            <a:off x="838200" y="196964"/>
            <a:ext cx="10515600" cy="1325563"/>
          </a:xfrm>
        </p:spPr>
        <p:txBody>
          <a:bodyPr anchor="ctr">
            <a:normAutofit fontScale="90000"/>
          </a:bodyPr>
          <a:lstStyle/>
          <a:p>
            <a:r>
              <a:rPr lang="en-US" dirty="0"/>
              <a:t>Current Technology Usage -</a:t>
            </a:r>
            <a:r>
              <a:rPr lang="fr-CA" dirty="0"/>
              <a:t>Top 10 platforms </a:t>
            </a:r>
            <a:r>
              <a:rPr lang="fr-CA" dirty="0" err="1"/>
              <a:t>worked</a:t>
            </a:r>
            <a:r>
              <a:rPr lang="fr-CA" dirty="0"/>
              <a:t> </a:t>
            </a:r>
            <a:r>
              <a:rPr lang="fr-CA" dirty="0" err="1"/>
              <a:t>with</a:t>
            </a:r>
            <a:r>
              <a:rPr lang="fr-CA" dirty="0"/>
              <a:t> </a:t>
            </a:r>
            <a:r>
              <a:rPr lang="fr-CA" dirty="0" err="1"/>
              <a:t>most</a:t>
            </a:r>
            <a:r>
              <a:rPr lang="fr-CA" dirty="0"/>
              <a:t> </a:t>
            </a:r>
            <a:r>
              <a:rPr lang="fr-CA" dirty="0" err="1"/>
              <a:t>frequently</a:t>
            </a:r>
            <a:br>
              <a:rPr lang="fr-CA" dirty="0"/>
            </a:br>
            <a:r>
              <a:rPr lang="en-US" dirty="0"/>
              <a:t> </a:t>
            </a:r>
          </a:p>
        </p:txBody>
      </p:sp>
      <p:pic>
        <p:nvPicPr>
          <p:cNvPr id="4" name="Picture 1" descr="A screenshot of a computer&#10;&#10;AI-generated content may be incorrect.">
            <a:extLst>
              <a:ext uri="{FF2B5EF4-FFF2-40B4-BE49-F238E27FC236}">
                <a16:creationId xmlns:a16="http://schemas.microsoft.com/office/drawing/2014/main" id="{7046C435-F2E0-71D5-8E0B-CE77B5D5D818}"/>
              </a:ext>
            </a:extLst>
          </p:cNvPr>
          <p:cNvPicPr>
            <a:picLocks noChangeAspect="1"/>
          </p:cNvPicPr>
          <p:nvPr/>
        </p:nvPicPr>
        <p:blipFill>
          <a:blip r:embed="rId3"/>
          <a:stretch>
            <a:fillRect/>
          </a:stretch>
        </p:blipFill>
        <p:spPr>
          <a:xfrm>
            <a:off x="2596056" y="1411955"/>
            <a:ext cx="7262647" cy="5446821"/>
          </a:xfrm>
          <a:prstGeom prst="rect">
            <a:avLst/>
          </a:prstGeom>
        </p:spPr>
      </p:pic>
    </p:spTree>
    <p:custDataLst>
      <p:tags r:id="rId1"/>
    </p:custDataLst>
    <p:extLst>
      <p:ext uri="{BB962C8B-B14F-4D97-AF65-F5344CB8AC3E}">
        <p14:creationId xmlns:p14="http://schemas.microsoft.com/office/powerpoint/2010/main" val="4268447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423D3-C117-583D-EA07-C4579C962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695CE-BE43-C809-62AC-F429809351B2}"/>
              </a:ext>
            </a:extLst>
          </p:cNvPr>
          <p:cNvSpPr>
            <a:spLocks noGrp="1"/>
          </p:cNvSpPr>
          <p:nvPr>
            <p:ph type="title"/>
          </p:nvPr>
        </p:nvSpPr>
        <p:spPr>
          <a:xfrm>
            <a:off x="838200" y="186451"/>
            <a:ext cx="10515600" cy="1325563"/>
          </a:xfrm>
        </p:spPr>
        <p:txBody>
          <a:bodyPr anchor="ctr">
            <a:normAutofit fontScale="90000"/>
          </a:bodyPr>
          <a:lstStyle/>
          <a:p>
            <a:r>
              <a:rPr lang="en-US" dirty="0"/>
              <a:t>Current Technology Usage - </a:t>
            </a:r>
            <a:r>
              <a:rPr lang="fr-CA" dirty="0"/>
              <a:t>Top 10 </a:t>
            </a:r>
            <a:r>
              <a:rPr lang="fr-CA" dirty="0" err="1"/>
              <a:t>webframes</a:t>
            </a:r>
            <a:r>
              <a:rPr lang="fr-CA" dirty="0"/>
              <a:t> </a:t>
            </a:r>
            <a:r>
              <a:rPr lang="fr-CA" dirty="0" err="1"/>
              <a:t>worked</a:t>
            </a:r>
            <a:r>
              <a:rPr lang="fr-CA" dirty="0"/>
              <a:t> </a:t>
            </a:r>
            <a:r>
              <a:rPr lang="fr-CA" dirty="0" err="1"/>
              <a:t>with</a:t>
            </a:r>
            <a:r>
              <a:rPr lang="fr-CA" dirty="0"/>
              <a:t> </a:t>
            </a:r>
            <a:r>
              <a:rPr lang="fr-CA" dirty="0" err="1"/>
              <a:t>most</a:t>
            </a:r>
            <a:r>
              <a:rPr lang="fr-CA" dirty="0"/>
              <a:t> </a:t>
            </a:r>
            <a:r>
              <a:rPr lang="fr-CA" dirty="0" err="1"/>
              <a:t>frequently</a:t>
            </a:r>
            <a:br>
              <a:rPr lang="fr-CA" dirty="0"/>
            </a:br>
            <a:endParaRPr lang="en-US" dirty="0"/>
          </a:p>
        </p:txBody>
      </p:sp>
      <p:pic>
        <p:nvPicPr>
          <p:cNvPr id="3" name="Picture 1" descr="A screenshot of a computer&#10;&#10;AI-generated content may be incorrect.">
            <a:extLst>
              <a:ext uri="{FF2B5EF4-FFF2-40B4-BE49-F238E27FC236}">
                <a16:creationId xmlns:a16="http://schemas.microsoft.com/office/drawing/2014/main" id="{B11FC4FF-3B89-CF50-46FB-6684A8B2BE35}"/>
              </a:ext>
            </a:extLst>
          </p:cNvPr>
          <p:cNvPicPr>
            <a:picLocks noChangeAspect="1"/>
          </p:cNvPicPr>
          <p:nvPr/>
        </p:nvPicPr>
        <p:blipFill>
          <a:blip r:embed="rId3"/>
          <a:stretch>
            <a:fillRect/>
          </a:stretch>
        </p:blipFill>
        <p:spPr>
          <a:xfrm>
            <a:off x="2495605" y="1443486"/>
            <a:ext cx="7268505" cy="5451215"/>
          </a:xfrm>
          <a:prstGeom prst="rect">
            <a:avLst/>
          </a:prstGeom>
        </p:spPr>
      </p:pic>
    </p:spTree>
    <p:custDataLst>
      <p:tags r:id="rId1"/>
    </p:custDataLst>
    <p:extLst>
      <p:ext uri="{BB962C8B-B14F-4D97-AF65-F5344CB8AC3E}">
        <p14:creationId xmlns:p14="http://schemas.microsoft.com/office/powerpoint/2010/main" val="3429667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A167-3AE3-065B-7B9A-F10E0722E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0A75A-3EF6-E235-3DFC-1ADD8D6E1C23}"/>
              </a:ext>
            </a:extLst>
          </p:cNvPr>
          <p:cNvSpPr>
            <a:spLocks noGrp="1"/>
          </p:cNvSpPr>
          <p:nvPr>
            <p:ph type="title"/>
          </p:nvPr>
        </p:nvSpPr>
        <p:spPr>
          <a:xfrm>
            <a:off x="838200" y="365125"/>
            <a:ext cx="10515600" cy="1325563"/>
          </a:xfrm>
        </p:spPr>
        <p:txBody>
          <a:bodyPr anchor="ctr">
            <a:normAutofit/>
          </a:bodyPr>
          <a:lstStyle/>
          <a:p>
            <a:r>
              <a:rPr lang="en-US" dirty="0"/>
              <a:t>Future Technology Trend</a:t>
            </a:r>
          </a:p>
        </p:txBody>
      </p:sp>
      <p:pic>
        <p:nvPicPr>
          <p:cNvPr id="6" name="Picture 1" descr="A screenshot of a computer&#10;&#10;AI-generated content may be incorrect.">
            <a:extLst>
              <a:ext uri="{FF2B5EF4-FFF2-40B4-BE49-F238E27FC236}">
                <a16:creationId xmlns:a16="http://schemas.microsoft.com/office/drawing/2014/main" id="{D2A050FD-A322-B33D-5152-A26A0062416F}"/>
              </a:ext>
            </a:extLst>
          </p:cNvPr>
          <p:cNvPicPr>
            <a:picLocks noChangeAspect="1"/>
          </p:cNvPicPr>
          <p:nvPr/>
        </p:nvPicPr>
        <p:blipFill>
          <a:blip r:embed="rId4"/>
          <a:stretch>
            <a:fillRect/>
          </a:stretch>
        </p:blipFill>
        <p:spPr>
          <a:xfrm>
            <a:off x="2306992" y="1408386"/>
            <a:ext cx="7951105" cy="5449614"/>
          </a:xfrm>
          <a:prstGeom prst="rect">
            <a:avLst/>
          </a:prstGeom>
        </p:spPr>
      </p:pic>
    </p:spTree>
    <p:custDataLst>
      <p:tags r:id="rId1"/>
    </p:custDataLst>
    <p:extLst>
      <p:ext uri="{BB962C8B-B14F-4D97-AF65-F5344CB8AC3E}">
        <p14:creationId xmlns:p14="http://schemas.microsoft.com/office/powerpoint/2010/main" val="3608047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F8905-116E-CD65-3190-2C20920BF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F5434-BEC0-D791-BE5E-D85261C19A28}"/>
              </a:ext>
            </a:extLst>
          </p:cNvPr>
          <p:cNvSpPr>
            <a:spLocks noGrp="1"/>
          </p:cNvSpPr>
          <p:nvPr>
            <p:ph type="title"/>
          </p:nvPr>
        </p:nvSpPr>
        <p:spPr>
          <a:xfrm>
            <a:off x="838200" y="365125"/>
            <a:ext cx="10515600" cy="1325563"/>
          </a:xfrm>
        </p:spPr>
        <p:txBody>
          <a:bodyPr anchor="ctr">
            <a:normAutofit fontScale="90000"/>
          </a:bodyPr>
          <a:lstStyle/>
          <a:p>
            <a:r>
              <a:rPr lang="en-US" dirty="0"/>
              <a:t>Future Technology Trend-</a:t>
            </a:r>
            <a:r>
              <a:rPr lang="fr-CA" dirty="0"/>
              <a:t>Top 10 platforms </a:t>
            </a:r>
            <a:r>
              <a:rPr lang="fr-CA" dirty="0" err="1"/>
              <a:t>most</a:t>
            </a:r>
            <a:r>
              <a:rPr lang="fr-CA" dirty="0"/>
              <a:t> </a:t>
            </a:r>
            <a:r>
              <a:rPr lang="fr-CA" dirty="0" err="1"/>
              <a:t>wanted</a:t>
            </a:r>
            <a:r>
              <a:rPr lang="fr-CA" dirty="0"/>
              <a:t> to </a:t>
            </a:r>
            <a:r>
              <a:rPr lang="fr-CA" dirty="0" err="1"/>
              <a:t>work</a:t>
            </a:r>
            <a:r>
              <a:rPr lang="fr-CA" dirty="0"/>
              <a:t> </a:t>
            </a:r>
            <a:r>
              <a:rPr lang="fr-CA" dirty="0" err="1"/>
              <a:t>with</a:t>
            </a:r>
            <a:br>
              <a:rPr lang="fr-CA" dirty="0"/>
            </a:br>
            <a:endParaRPr lang="en-US" dirty="0"/>
          </a:p>
        </p:txBody>
      </p:sp>
      <p:pic>
        <p:nvPicPr>
          <p:cNvPr id="3" name="Picture 1" descr="A screenshot of a computer&#10;&#10;AI-generated content may be incorrect.">
            <a:extLst>
              <a:ext uri="{FF2B5EF4-FFF2-40B4-BE49-F238E27FC236}">
                <a16:creationId xmlns:a16="http://schemas.microsoft.com/office/drawing/2014/main" id="{9B656B6C-C7E1-4C41-17D3-C76350C507DA}"/>
              </a:ext>
            </a:extLst>
          </p:cNvPr>
          <p:cNvPicPr>
            <a:picLocks noChangeAspect="1"/>
          </p:cNvPicPr>
          <p:nvPr/>
        </p:nvPicPr>
        <p:blipFill>
          <a:blip r:embed="rId4"/>
          <a:stretch>
            <a:fillRect/>
          </a:stretch>
        </p:blipFill>
        <p:spPr>
          <a:xfrm>
            <a:off x="2684791" y="1390934"/>
            <a:ext cx="7032625" cy="5274310"/>
          </a:xfrm>
          <a:prstGeom prst="rect">
            <a:avLst/>
          </a:prstGeom>
        </p:spPr>
      </p:pic>
    </p:spTree>
    <p:custDataLst>
      <p:tags r:id="rId1"/>
    </p:custDataLst>
    <p:extLst>
      <p:ext uri="{BB962C8B-B14F-4D97-AF65-F5344CB8AC3E}">
        <p14:creationId xmlns:p14="http://schemas.microsoft.com/office/powerpoint/2010/main" val="2381515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A79E9-B4C8-38DB-33A6-0B69B9A05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5BBBF-A9CA-3647-ECB5-52E976AF79E2}"/>
              </a:ext>
            </a:extLst>
          </p:cNvPr>
          <p:cNvSpPr>
            <a:spLocks noGrp="1"/>
          </p:cNvSpPr>
          <p:nvPr>
            <p:ph type="title"/>
          </p:nvPr>
        </p:nvSpPr>
        <p:spPr>
          <a:xfrm>
            <a:off x="838200" y="365125"/>
            <a:ext cx="10515600" cy="1325563"/>
          </a:xfrm>
        </p:spPr>
        <p:txBody>
          <a:bodyPr anchor="ctr">
            <a:normAutofit fontScale="90000"/>
          </a:bodyPr>
          <a:lstStyle/>
          <a:p>
            <a:r>
              <a:rPr lang="en-US" dirty="0"/>
              <a:t>Future Technology Trend-</a:t>
            </a:r>
            <a:r>
              <a:rPr lang="fr-CA" dirty="0"/>
              <a:t>Top 10 </a:t>
            </a:r>
            <a:r>
              <a:rPr lang="fr-CA" dirty="0" err="1"/>
              <a:t>webframes</a:t>
            </a:r>
            <a:r>
              <a:rPr lang="fr-CA" dirty="0"/>
              <a:t> </a:t>
            </a:r>
            <a:r>
              <a:rPr lang="fr-CA" dirty="0" err="1"/>
              <a:t>most</a:t>
            </a:r>
            <a:r>
              <a:rPr lang="fr-CA" dirty="0"/>
              <a:t> </a:t>
            </a:r>
            <a:r>
              <a:rPr lang="fr-CA" dirty="0" err="1"/>
              <a:t>wanted</a:t>
            </a:r>
            <a:r>
              <a:rPr lang="fr-CA" dirty="0"/>
              <a:t> to </a:t>
            </a:r>
            <a:r>
              <a:rPr lang="fr-CA" dirty="0" err="1"/>
              <a:t>work</a:t>
            </a:r>
            <a:r>
              <a:rPr lang="fr-CA" dirty="0"/>
              <a:t> </a:t>
            </a:r>
            <a:r>
              <a:rPr lang="fr-CA" dirty="0" err="1"/>
              <a:t>with</a:t>
            </a:r>
            <a:br>
              <a:rPr lang="fr-CA" dirty="0"/>
            </a:br>
            <a:endParaRPr lang="en-US" dirty="0"/>
          </a:p>
        </p:txBody>
      </p:sp>
      <p:pic>
        <p:nvPicPr>
          <p:cNvPr id="3" name="Picture 1" descr="A screenshot of a computer&#10;&#10;AI-generated content may be incorrect.">
            <a:extLst>
              <a:ext uri="{FF2B5EF4-FFF2-40B4-BE49-F238E27FC236}">
                <a16:creationId xmlns:a16="http://schemas.microsoft.com/office/drawing/2014/main" id="{1D979965-A319-802F-3B1D-A5BBD00A0050}"/>
              </a:ext>
            </a:extLst>
          </p:cNvPr>
          <p:cNvPicPr>
            <a:picLocks noChangeAspect="1"/>
          </p:cNvPicPr>
          <p:nvPr/>
        </p:nvPicPr>
        <p:blipFill>
          <a:blip r:embed="rId4"/>
          <a:stretch>
            <a:fillRect/>
          </a:stretch>
        </p:blipFill>
        <p:spPr>
          <a:xfrm>
            <a:off x="2579687" y="1401438"/>
            <a:ext cx="7205444" cy="5403920"/>
          </a:xfrm>
          <a:prstGeom prst="rect">
            <a:avLst/>
          </a:prstGeom>
        </p:spPr>
      </p:pic>
    </p:spTree>
    <p:custDataLst>
      <p:tags r:id="rId1"/>
    </p:custDataLst>
    <p:extLst>
      <p:ext uri="{BB962C8B-B14F-4D97-AF65-F5344CB8AC3E}">
        <p14:creationId xmlns:p14="http://schemas.microsoft.com/office/powerpoint/2010/main" val="3862298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Demographics</a:t>
            </a:r>
          </a:p>
        </p:txBody>
      </p:sp>
      <p:pic>
        <p:nvPicPr>
          <p:cNvPr id="6" name="Picture 1" descr="A screenshot of a computer&#10;&#10;AI-generated content may be incorrect.">
            <a:extLst>
              <a:ext uri="{FF2B5EF4-FFF2-40B4-BE49-F238E27FC236}">
                <a16:creationId xmlns:a16="http://schemas.microsoft.com/office/drawing/2014/main" id="{06D5A83D-F65A-AA1D-E89F-907776A9C4DC}"/>
              </a:ext>
            </a:extLst>
          </p:cNvPr>
          <p:cNvPicPr>
            <a:picLocks noChangeAspect="1"/>
          </p:cNvPicPr>
          <p:nvPr/>
        </p:nvPicPr>
        <p:blipFill>
          <a:blip r:embed="rId3"/>
          <a:stretch>
            <a:fillRect/>
          </a:stretch>
        </p:blipFill>
        <p:spPr>
          <a:xfrm>
            <a:off x="2186152" y="1327960"/>
            <a:ext cx="8135007" cy="5530040"/>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DDDFA-1462-A42C-AB45-7B717BD3F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64C1F-303E-EB8F-2C3E-A5DA23CC47CF}"/>
              </a:ext>
            </a:extLst>
          </p:cNvPr>
          <p:cNvSpPr>
            <a:spLocks noGrp="1"/>
          </p:cNvSpPr>
          <p:nvPr>
            <p:ph type="title"/>
          </p:nvPr>
        </p:nvSpPr>
        <p:spPr>
          <a:xfrm>
            <a:off x="283779" y="365125"/>
            <a:ext cx="11634951" cy="1325563"/>
          </a:xfrm>
        </p:spPr>
        <p:txBody>
          <a:bodyPr anchor="ctr">
            <a:normAutofit/>
          </a:bodyPr>
          <a:lstStyle/>
          <a:p>
            <a:r>
              <a:rPr lang="en-US" dirty="0"/>
              <a:t>Demographics –Respondent distribution by Age</a:t>
            </a:r>
          </a:p>
        </p:txBody>
      </p:sp>
      <p:pic>
        <p:nvPicPr>
          <p:cNvPr id="3" name="Picture 1" descr="A screenshot of a pie chart&#10;&#10;AI-generated content may be incorrect.">
            <a:extLst>
              <a:ext uri="{FF2B5EF4-FFF2-40B4-BE49-F238E27FC236}">
                <a16:creationId xmlns:a16="http://schemas.microsoft.com/office/drawing/2014/main" id="{07AE563E-1774-3641-7A22-37878E47E7DC}"/>
              </a:ext>
            </a:extLst>
          </p:cNvPr>
          <p:cNvPicPr>
            <a:picLocks noChangeAspect="1"/>
          </p:cNvPicPr>
          <p:nvPr/>
        </p:nvPicPr>
        <p:blipFill>
          <a:blip r:embed="rId3"/>
          <a:stretch>
            <a:fillRect/>
          </a:stretch>
        </p:blipFill>
        <p:spPr>
          <a:xfrm>
            <a:off x="2579687" y="1317364"/>
            <a:ext cx="7032625" cy="5274310"/>
          </a:xfrm>
          <a:prstGeom prst="rect">
            <a:avLst/>
          </a:prstGeom>
        </p:spPr>
      </p:pic>
    </p:spTree>
    <p:custDataLst>
      <p:tags r:id="rId1"/>
    </p:custDataLst>
    <p:extLst>
      <p:ext uri="{BB962C8B-B14F-4D97-AF65-F5344CB8AC3E}">
        <p14:creationId xmlns:p14="http://schemas.microsoft.com/office/powerpoint/2010/main" val="3852482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46FD-7E2E-3312-FBA0-F3697159B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CD887-58E2-601A-B914-11773CE9D98C}"/>
              </a:ext>
            </a:extLst>
          </p:cNvPr>
          <p:cNvSpPr>
            <a:spLocks noGrp="1"/>
          </p:cNvSpPr>
          <p:nvPr>
            <p:ph type="title"/>
          </p:nvPr>
        </p:nvSpPr>
        <p:spPr>
          <a:xfrm>
            <a:off x="838200" y="365125"/>
            <a:ext cx="11175124" cy="1325563"/>
          </a:xfrm>
        </p:spPr>
        <p:txBody>
          <a:bodyPr anchor="ctr">
            <a:normAutofit/>
          </a:bodyPr>
          <a:lstStyle/>
          <a:p>
            <a:r>
              <a:rPr lang="en-US" dirty="0"/>
              <a:t>Demographics – Respondent count by Country</a:t>
            </a:r>
          </a:p>
        </p:txBody>
      </p:sp>
      <p:pic>
        <p:nvPicPr>
          <p:cNvPr id="3" name="Picture 1" descr="A map of the world&#10;&#10;AI-generated content may be incorrect.">
            <a:extLst>
              <a:ext uri="{FF2B5EF4-FFF2-40B4-BE49-F238E27FC236}">
                <a16:creationId xmlns:a16="http://schemas.microsoft.com/office/drawing/2014/main" id="{866C2842-0F82-F0F8-AFEF-92BCB5F8B898}"/>
              </a:ext>
            </a:extLst>
          </p:cNvPr>
          <p:cNvPicPr>
            <a:picLocks noChangeAspect="1"/>
          </p:cNvPicPr>
          <p:nvPr/>
        </p:nvPicPr>
        <p:blipFill>
          <a:blip r:embed="rId3"/>
          <a:stretch>
            <a:fillRect/>
          </a:stretch>
        </p:blipFill>
        <p:spPr>
          <a:xfrm>
            <a:off x="2579687" y="1327874"/>
            <a:ext cx="7032625" cy="5274310"/>
          </a:xfrm>
          <a:prstGeom prst="rect">
            <a:avLst/>
          </a:prstGeom>
        </p:spPr>
      </p:pic>
    </p:spTree>
    <p:custDataLst>
      <p:tags r:id="rId1"/>
    </p:custDataLst>
    <p:extLst>
      <p:ext uri="{BB962C8B-B14F-4D97-AF65-F5344CB8AC3E}">
        <p14:creationId xmlns:p14="http://schemas.microsoft.com/office/powerpoint/2010/main" val="2897392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E69C-7DCD-EC4C-989F-B655FE4A9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4394E-36F3-FCA7-5554-41D268C51E9A}"/>
              </a:ext>
            </a:extLst>
          </p:cNvPr>
          <p:cNvSpPr>
            <a:spLocks noGrp="1"/>
          </p:cNvSpPr>
          <p:nvPr>
            <p:ph type="title"/>
          </p:nvPr>
        </p:nvSpPr>
        <p:spPr>
          <a:xfrm>
            <a:off x="672662" y="133905"/>
            <a:ext cx="11098924" cy="1325563"/>
          </a:xfrm>
        </p:spPr>
        <p:txBody>
          <a:bodyPr anchor="ctr">
            <a:normAutofit/>
          </a:bodyPr>
          <a:lstStyle/>
          <a:p>
            <a:r>
              <a:rPr lang="en-US" dirty="0"/>
              <a:t>Demographics-Respondent distribution by Formal Education Level</a:t>
            </a:r>
          </a:p>
        </p:txBody>
      </p:sp>
      <p:pic>
        <p:nvPicPr>
          <p:cNvPr id="3" name="Picture 1" descr="A graph with a purple line&#10;&#10;AI-generated content may be incorrect.">
            <a:extLst>
              <a:ext uri="{FF2B5EF4-FFF2-40B4-BE49-F238E27FC236}">
                <a16:creationId xmlns:a16="http://schemas.microsoft.com/office/drawing/2014/main" id="{FF23CBEC-00D9-B7F3-DA00-3C6DA02EC7D2}"/>
              </a:ext>
            </a:extLst>
          </p:cNvPr>
          <p:cNvPicPr>
            <a:picLocks noChangeAspect="1"/>
          </p:cNvPicPr>
          <p:nvPr/>
        </p:nvPicPr>
        <p:blipFill>
          <a:blip r:embed="rId3"/>
          <a:stretch>
            <a:fillRect/>
          </a:stretch>
        </p:blipFill>
        <p:spPr>
          <a:xfrm>
            <a:off x="2726832" y="1348893"/>
            <a:ext cx="7032625" cy="5274310"/>
          </a:xfrm>
          <a:prstGeom prst="rect">
            <a:avLst/>
          </a:prstGeom>
        </p:spPr>
      </p:pic>
    </p:spTree>
    <p:custDataLst>
      <p:tags r:id="rId1"/>
    </p:custDataLst>
    <p:extLst>
      <p:ext uri="{BB962C8B-B14F-4D97-AF65-F5344CB8AC3E}">
        <p14:creationId xmlns:p14="http://schemas.microsoft.com/office/powerpoint/2010/main" val="1128429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8B04-B043-FCCD-98BB-51F76435F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78A4A-DCB1-F53F-9DC5-4C25402E3442}"/>
              </a:ext>
            </a:extLst>
          </p:cNvPr>
          <p:cNvSpPr>
            <a:spLocks noGrp="1"/>
          </p:cNvSpPr>
          <p:nvPr>
            <p:ph type="title"/>
          </p:nvPr>
        </p:nvSpPr>
        <p:spPr>
          <a:xfrm>
            <a:off x="838200" y="133905"/>
            <a:ext cx="10515600" cy="1325563"/>
          </a:xfrm>
        </p:spPr>
        <p:txBody>
          <a:bodyPr anchor="ctr">
            <a:normAutofit/>
          </a:bodyPr>
          <a:lstStyle/>
          <a:p>
            <a:r>
              <a:rPr lang="en-US" dirty="0"/>
              <a:t>Demographics-Respondent count by Age, classified by Education Level</a:t>
            </a:r>
          </a:p>
        </p:txBody>
      </p:sp>
      <p:pic>
        <p:nvPicPr>
          <p:cNvPr id="3" name="Picture 1" descr="A screenshot of a graph&#10;&#10;AI-generated content may be incorrect.">
            <a:extLst>
              <a:ext uri="{FF2B5EF4-FFF2-40B4-BE49-F238E27FC236}">
                <a16:creationId xmlns:a16="http://schemas.microsoft.com/office/drawing/2014/main" id="{AB3B18B2-0CB1-32B2-4583-51691615DEEF}"/>
              </a:ext>
            </a:extLst>
          </p:cNvPr>
          <p:cNvPicPr>
            <a:picLocks noChangeAspect="1"/>
          </p:cNvPicPr>
          <p:nvPr/>
        </p:nvPicPr>
        <p:blipFill>
          <a:blip r:embed="rId3"/>
          <a:stretch>
            <a:fillRect/>
          </a:stretch>
        </p:blipFill>
        <p:spPr>
          <a:xfrm>
            <a:off x="2674280" y="1359404"/>
            <a:ext cx="7032625" cy="5274310"/>
          </a:xfrm>
          <a:prstGeom prst="rect">
            <a:avLst/>
          </a:prstGeom>
        </p:spPr>
      </p:pic>
    </p:spTree>
    <p:custDataLst>
      <p:tags r:id="rId1"/>
    </p:custDataLst>
    <p:extLst>
      <p:ext uri="{BB962C8B-B14F-4D97-AF65-F5344CB8AC3E}">
        <p14:creationId xmlns:p14="http://schemas.microsoft.com/office/powerpoint/2010/main" val="3682437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346841" y="365125"/>
            <a:ext cx="11645462" cy="1325563"/>
          </a:xfrm>
        </p:spPr>
        <p:txBody>
          <a:bodyPr anchor="ctr">
            <a:normAutofit/>
          </a:bodyPr>
          <a:lstStyle/>
          <a:p>
            <a:r>
              <a:rPr lang="en-US" dirty="0"/>
              <a:t>DISCUSSION – DATA USED AND CHOICES MADE</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273263" y="1532923"/>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2312276" y="1303282"/>
            <a:ext cx="9777220" cy="5554717"/>
          </a:xfrm>
        </p:spPr>
        <p:txBody>
          <a:bodyPr>
            <a:noAutofit/>
          </a:bodyPr>
          <a:lstStyle/>
          <a:p>
            <a:pPr algn="just"/>
            <a:r>
              <a:rPr lang="en-CA" sz="2400" dirty="0"/>
              <a:t>It is certain that if, instead of looking at a combination of languages, we had looked at each language separately, the result would have been quite different. In fact, it would have been interesting to ask respondents about their (single) most used language.</a:t>
            </a:r>
            <a:endParaRPr lang="fr-CA" sz="2400" dirty="0"/>
          </a:p>
          <a:p>
            <a:pPr algn="just"/>
            <a:r>
              <a:rPr lang="en-CA" sz="2400" dirty="0"/>
              <a:t>Note: We could have extracted the languages individually and seen which one was the most popular. But this can be misleading and biased because a developer who says they use a combination of languages does not necessarily use a language from that combination more often; their most frequently used language on its own may be another language. For example, a full-stack developer may spend a lot of time on the front end (in which case they will use the HTML/CSS and JavaScript web stack) and a little less time on the back end with Java, for example. In this case, their most used language is actually the combination of the HTML/CSS and JavaScript web stack, whereas if they had to choose a single most used language, it would be Java.</a:t>
            </a:r>
            <a:endParaRPr lang="fr-CA" sz="24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7373-1BBF-1153-4138-5526DBA52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E68D8-AD95-C415-EFC6-D53530B6C4F4}"/>
              </a:ext>
            </a:extLst>
          </p:cNvPr>
          <p:cNvSpPr>
            <a:spLocks noGrp="1"/>
          </p:cNvSpPr>
          <p:nvPr>
            <p:ph type="title"/>
          </p:nvPr>
        </p:nvSpPr>
        <p:spPr>
          <a:xfrm>
            <a:off x="838200" y="365125"/>
            <a:ext cx="10515600" cy="1325563"/>
          </a:xfrm>
        </p:spPr>
        <p:txBody>
          <a:bodyPr anchor="ctr">
            <a:normAutofit/>
          </a:bodyPr>
          <a:lstStyle/>
          <a:p>
            <a:r>
              <a:rPr lang="en-US" dirty="0"/>
              <a:t>DISCUSSION - RESULTS</a:t>
            </a:r>
          </a:p>
        </p:txBody>
      </p:sp>
      <p:pic>
        <p:nvPicPr>
          <p:cNvPr id="3" name="Content Placeholder 2">
            <a:extLst>
              <a:ext uri="{FF2B5EF4-FFF2-40B4-BE49-F238E27FC236}">
                <a16:creationId xmlns:a16="http://schemas.microsoft.com/office/drawing/2014/main" id="{CDD7629C-AC34-3F9D-5EFF-DDC623A5205F}"/>
              </a:ext>
            </a:extLst>
          </p:cNvPr>
          <p:cNvPicPr>
            <a:picLocks noGrp="1" noChangeAspect="1"/>
          </p:cNvPicPr>
          <p:nvPr>
            <p:ph sz="half" idx="1"/>
          </p:nvPr>
        </p:nvPicPr>
        <p:blipFill>
          <a:blip r:embed="rId3"/>
          <a:stretch>
            <a:fillRect/>
          </a:stretch>
        </p:blipFill>
        <p:spPr>
          <a:xfrm>
            <a:off x="-323209" y="1825625"/>
            <a:ext cx="4351338" cy="4351338"/>
          </a:xfrm>
          <a:prstGeom prst="rect">
            <a:avLst/>
          </a:prstGeom>
          <a:noFill/>
        </p:spPr>
      </p:pic>
      <p:sp>
        <p:nvSpPr>
          <p:cNvPr id="4" name="Content Placeholder 3">
            <a:extLst>
              <a:ext uri="{FF2B5EF4-FFF2-40B4-BE49-F238E27FC236}">
                <a16:creationId xmlns:a16="http://schemas.microsoft.com/office/drawing/2014/main" id="{5410E8EB-63B0-6C87-F463-A16380ACCE19}"/>
              </a:ext>
            </a:extLst>
          </p:cNvPr>
          <p:cNvSpPr>
            <a:spLocks noGrp="1"/>
          </p:cNvSpPr>
          <p:nvPr>
            <p:ph sz="half" idx="2"/>
          </p:nvPr>
        </p:nvSpPr>
        <p:spPr>
          <a:xfrm>
            <a:off x="3710153" y="1825625"/>
            <a:ext cx="7643648" cy="4351338"/>
          </a:xfrm>
        </p:spPr>
        <p:txBody>
          <a:bodyPr>
            <a:normAutofit fontScale="85000" lnSpcReduction="20000"/>
          </a:bodyPr>
          <a:lstStyle/>
          <a:p>
            <a:pPr algn="just"/>
            <a:r>
              <a:rPr lang="en-US" dirty="0"/>
              <a:t>Current vs. Future: While JavaScript and Python lead today, the strong desire to work with AWS and Python points to a consolidation of cloud and data-centric skills.</a:t>
            </a:r>
          </a:p>
          <a:p>
            <a:pPr algn="just"/>
            <a:endParaRPr lang="en-US" dirty="0"/>
          </a:p>
          <a:p>
            <a:pPr algn="just"/>
            <a:r>
              <a:rPr lang="en-US" dirty="0"/>
              <a:t>Demographic Insight: The primary workforce (25-34 years) is highly educated, suggesting a competitive job market where certifications and specialized skills (like cloud expertise) are key differentiators.</a:t>
            </a:r>
          </a:p>
          <a:p>
            <a:pPr algn="just"/>
            <a:endParaRPr lang="en-US" dirty="0"/>
          </a:p>
          <a:p>
            <a:pPr algn="just"/>
            <a:r>
              <a:rPr lang="en-US" dirty="0"/>
              <a:t> High-Value Skills: Niche languages (Swift, Go) and cloud platforms (AWS) command premium salaries and high future demand.</a:t>
            </a:r>
          </a:p>
        </p:txBody>
      </p:sp>
    </p:spTree>
    <p:custDataLst>
      <p:tags r:id="rId1"/>
    </p:custDataLst>
    <p:extLst>
      <p:ext uri="{BB962C8B-B14F-4D97-AF65-F5344CB8AC3E}">
        <p14:creationId xmlns:p14="http://schemas.microsoft.com/office/powerpoint/2010/main" val="3897759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70000" lnSpcReduction="20000"/>
          </a:bodyPr>
          <a:lstStyle/>
          <a:p>
            <a:pPr marL="0" indent="0">
              <a:buNone/>
            </a:pPr>
            <a:r>
              <a:rPr lang="en-US" dirty="0"/>
              <a:t>Findings</a:t>
            </a:r>
          </a:p>
          <a:p>
            <a:pPr marL="0" indent="0">
              <a:buNone/>
            </a:pPr>
            <a:endParaRPr lang="en-US" dirty="0"/>
          </a:p>
          <a:p>
            <a:r>
              <a:rPr lang="en-US" dirty="0"/>
              <a:t>The tech landscape is bifurcating between widespread web technologies (JS, Python) and high-value specialized skills (Cloud, Swift, C++).</a:t>
            </a:r>
          </a:p>
          <a:p>
            <a:endParaRPr lang="en-US" dirty="0"/>
          </a:p>
          <a:p>
            <a:r>
              <a:rPr lang="en-US" dirty="0"/>
              <a:t> Cloud proficiency is transitioning from a "nice-to-have" to a "must-have" skill.</a:t>
            </a:r>
          </a:p>
          <a:p>
            <a:endParaRPr lang="en-US" dirty="0"/>
          </a:p>
          <a:p>
            <a:r>
              <a:rPr lang="en-US" dirty="0"/>
              <a:t> Real-world job postings sometimes contrast with developer surveys, highlighting the importance of analyzing multiple data sources.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fontScale="70000" lnSpcReduction="20000"/>
          </a:bodyPr>
          <a:lstStyle/>
          <a:p>
            <a:pPr marL="0" indent="0">
              <a:buNone/>
            </a:pPr>
            <a:r>
              <a:rPr lang="en-US" dirty="0"/>
              <a:t>Implications</a:t>
            </a:r>
          </a:p>
          <a:p>
            <a:pPr marL="0" indent="0">
              <a:buNone/>
            </a:pPr>
            <a:endParaRPr lang="en-US" dirty="0"/>
          </a:p>
          <a:p>
            <a:r>
              <a:rPr lang="en-US" dirty="0"/>
              <a:t>For Job Seekers: Build a core foundation in Python and JavaScript, then specialize in a high-demand area like cloud computing or a niche language.</a:t>
            </a:r>
          </a:p>
          <a:p>
            <a:endParaRPr lang="en-US" dirty="0"/>
          </a:p>
          <a:p>
            <a:r>
              <a:rPr lang="en-US" dirty="0"/>
              <a:t> For Educators: Curricula must integrate cloud technologies and data management principles.</a:t>
            </a:r>
          </a:p>
          <a:p>
            <a:endParaRPr lang="en-US" dirty="0"/>
          </a:p>
          <a:p>
            <a:r>
              <a:rPr lang="en-US" dirty="0"/>
              <a:t> For Companies: To attract top talent, focus on projects involving trending technologies like AWS, Azure, Python, and Go.</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p>
          <a:p>
            <a:r>
              <a:rPr lang="en-US" dirty="0"/>
              <a:t>    Python and JavaScript remain the cornerstone languages for the present and immediate future.</a:t>
            </a:r>
          </a:p>
          <a:p>
            <a:endParaRPr lang="en-US" dirty="0"/>
          </a:p>
          <a:p>
            <a:r>
              <a:rPr lang="en-US" dirty="0"/>
              <a:t>    Cloud Adoption is the single most significant trend, with AWS leading the pack.</a:t>
            </a:r>
          </a:p>
          <a:p>
            <a:endParaRPr lang="en-US" dirty="0"/>
          </a:p>
          <a:p>
            <a:r>
              <a:rPr lang="en-US" dirty="0"/>
              <a:t>    Data Skills—specifically SQL and cloud databases—are critically important across roles.</a:t>
            </a:r>
          </a:p>
          <a:p>
            <a:endParaRPr lang="en-US" dirty="0"/>
          </a:p>
          <a:p>
            <a:r>
              <a:rPr lang="en-US" dirty="0"/>
              <a:t>    Strategic Specialization in high-salary, high-demand technologies (e.g., Swift, Go, AWS) offers a strong career advantage.</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782588" y="1849823"/>
            <a:ext cx="3194581" cy="3194581"/>
          </a:xfrm>
          <a:prstGeom prst="rect">
            <a:avLst/>
          </a:prstGeom>
        </p:spPr>
      </p:pic>
      <p:graphicFrame>
        <p:nvGraphicFramePr>
          <p:cNvPr id="2" name="Tableau 1">
            <a:extLst>
              <a:ext uri="{FF2B5EF4-FFF2-40B4-BE49-F238E27FC236}">
                <a16:creationId xmlns:a16="http://schemas.microsoft.com/office/drawing/2014/main" id="{B4EA2FCE-EE7C-27BF-AA20-A85DDFF3FBE5}"/>
              </a:ext>
            </a:extLst>
          </p:cNvPr>
          <p:cNvGraphicFramePr>
            <a:graphicFrameLocks noGrp="1"/>
          </p:cNvGraphicFramePr>
          <p:nvPr>
            <p:extLst>
              <p:ext uri="{D42A27DB-BD31-4B8C-83A1-F6EECF244321}">
                <p14:modId xmlns:p14="http://schemas.microsoft.com/office/powerpoint/2010/main" val="2792545500"/>
              </p:ext>
            </p:extLst>
          </p:nvPr>
        </p:nvGraphicFramePr>
        <p:xfrm>
          <a:off x="3815253" y="4818992"/>
          <a:ext cx="7514896" cy="2028498"/>
        </p:xfrm>
        <a:graphic>
          <a:graphicData uri="http://schemas.openxmlformats.org/drawingml/2006/table">
            <a:tbl>
              <a:tblPr>
                <a:tableStyleId>{5C22544A-7EE6-4342-B048-85BDC9FD1C3A}</a:tableStyleId>
              </a:tblPr>
              <a:tblGrid>
                <a:gridCol w="1007584">
                  <a:extLst>
                    <a:ext uri="{9D8B030D-6E8A-4147-A177-3AD203B41FA5}">
                      <a16:colId xmlns:a16="http://schemas.microsoft.com/office/drawing/2014/main" val="1132524189"/>
                    </a:ext>
                  </a:extLst>
                </a:gridCol>
                <a:gridCol w="1007584">
                  <a:extLst>
                    <a:ext uri="{9D8B030D-6E8A-4147-A177-3AD203B41FA5}">
                      <a16:colId xmlns:a16="http://schemas.microsoft.com/office/drawing/2014/main" val="4292008802"/>
                    </a:ext>
                  </a:extLst>
                </a:gridCol>
                <a:gridCol w="1469392">
                  <a:extLst>
                    <a:ext uri="{9D8B030D-6E8A-4147-A177-3AD203B41FA5}">
                      <a16:colId xmlns:a16="http://schemas.microsoft.com/office/drawing/2014/main" val="4282355665"/>
                    </a:ext>
                  </a:extLst>
                </a:gridCol>
                <a:gridCol w="1007584">
                  <a:extLst>
                    <a:ext uri="{9D8B030D-6E8A-4147-A177-3AD203B41FA5}">
                      <a16:colId xmlns:a16="http://schemas.microsoft.com/office/drawing/2014/main" val="1030240987"/>
                    </a:ext>
                  </a:extLst>
                </a:gridCol>
                <a:gridCol w="1007584">
                  <a:extLst>
                    <a:ext uri="{9D8B030D-6E8A-4147-A177-3AD203B41FA5}">
                      <a16:colId xmlns:a16="http://schemas.microsoft.com/office/drawing/2014/main" val="1570783890"/>
                    </a:ext>
                  </a:extLst>
                </a:gridCol>
                <a:gridCol w="1007584">
                  <a:extLst>
                    <a:ext uri="{9D8B030D-6E8A-4147-A177-3AD203B41FA5}">
                      <a16:colId xmlns:a16="http://schemas.microsoft.com/office/drawing/2014/main" val="1477433366"/>
                    </a:ext>
                  </a:extLst>
                </a:gridCol>
                <a:gridCol w="1007584">
                  <a:extLst>
                    <a:ext uri="{9D8B030D-6E8A-4147-A177-3AD203B41FA5}">
                      <a16:colId xmlns:a16="http://schemas.microsoft.com/office/drawing/2014/main" val="3097777130"/>
                    </a:ext>
                  </a:extLst>
                </a:gridCol>
              </a:tblGrid>
              <a:tr h="358481">
                <a:tc>
                  <a:txBody>
                    <a:bodyPr/>
                    <a:lstStyle/>
                    <a:p>
                      <a:pPr algn="ctr" fontAlgn="t">
                        <a:buNone/>
                      </a:pPr>
                      <a:r>
                        <a:rPr lang="fr-CA" sz="600" u="none" strike="noStrike">
                          <a:effectLst/>
                        </a:rPr>
                        <a:t>Language</a:t>
                      </a:r>
                      <a:endParaRPr lang="fr-CA" sz="6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US" sz="600" u="none" strike="noStrike">
                          <a:effectLst/>
                        </a:rPr>
                        <a:t>Number of times the language is requested</a:t>
                      </a:r>
                      <a:endParaRPr lang="en-US" sz="6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fr-CA" sz="600" u="none" strike="noStrike">
                          <a:effectLst/>
                        </a:rPr>
                        <a:t>Average Annual Salary ($)</a:t>
                      </a:r>
                      <a:endParaRPr lang="fr-CA" sz="6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endParaRPr lang="fr-CA" sz="6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t">
                        <a:buNone/>
                      </a:pPr>
                      <a:r>
                        <a:rPr lang="fr-CA" sz="600" u="none" strike="noStrike" dirty="0" err="1">
                          <a:effectLst/>
                        </a:rPr>
                        <a:t>Language</a:t>
                      </a:r>
                      <a:endParaRPr lang="fr-CA" sz="6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t">
                        <a:buNone/>
                      </a:pPr>
                      <a:r>
                        <a:rPr lang="en-US" sz="600" u="none" strike="noStrike">
                          <a:effectLst/>
                        </a:rPr>
                        <a:t>Number of times the language is requested per  percentage</a:t>
                      </a:r>
                      <a:endParaRPr lang="en-US" sz="6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US" sz="600" u="none" strike="noStrike">
                          <a:effectLst/>
                        </a:rPr>
                        <a:t>Average Annual Salary ($) per percentage</a:t>
                      </a:r>
                      <a:endParaRPr lang="en-US" sz="600" b="1"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441370374"/>
                  </a:ext>
                </a:extLst>
              </a:tr>
              <a:tr h="206816">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526</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88 726 </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0,07</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0,17</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75475178"/>
                  </a:ext>
                </a:extLst>
              </a:tr>
              <a:tr h="206816">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506</a:t>
                      </a:r>
                      <a:endParaRPr lang="fr-CA"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113 865 </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dirty="0">
                          <a:effectLst/>
                        </a:rPr>
                        <a:t>C++</a:t>
                      </a:r>
                      <a:endParaRPr lang="fr-CA"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0,06</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0,22</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37946739"/>
                  </a:ext>
                </a:extLst>
              </a:tr>
              <a:tr h="206816">
                <a:tc>
                  <a:txBody>
                    <a:bodyPr/>
                    <a:lstStyle/>
                    <a:p>
                      <a:pPr algn="l" fontAlgn="b">
                        <a:buNone/>
                      </a:pPr>
                      <a:r>
                        <a:rPr lang="fr-CA" sz="1100" u="none" strike="noStrike">
                          <a:effectLst/>
                        </a:rPr>
                        <a:t>Java</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3428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101 013 </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Java</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0,43</a:t>
                      </a:r>
                      <a:endParaRPr lang="fr-CA"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0,19</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00142401"/>
                  </a:ext>
                </a:extLst>
              </a:tr>
              <a:tr h="206816">
                <a:tc>
                  <a:txBody>
                    <a:bodyPr/>
                    <a:lstStyle/>
                    <a:p>
                      <a:pPr algn="l" fontAlgn="b">
                        <a:buNone/>
                      </a:pPr>
                      <a:r>
                        <a:rPr lang="fr-CA" sz="1100" u="none" strike="noStrike">
                          <a:effectLst/>
                        </a:rPr>
                        <a:t>JavaScript</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2248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110 981 </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JavaScript</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0,29</a:t>
                      </a:r>
                      <a:endParaRPr lang="fr-CA"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0,21</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15835818"/>
                  </a:ext>
                </a:extLst>
              </a:tr>
              <a:tr h="206816">
                <a:tc>
                  <a:txBody>
                    <a:bodyPr/>
                    <a:lstStyle/>
                    <a:p>
                      <a:pPr algn="l" fontAlgn="b">
                        <a:buNone/>
                      </a:pPr>
                      <a:r>
                        <a:rPr lang="fr-CA" sz="1100" u="none" strike="noStrike">
                          <a:effectLst/>
                        </a:rPr>
                        <a:t>Python</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1173</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114 383 </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Python</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0,15</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0,22</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57780"/>
                  </a:ext>
                </a:extLst>
              </a:tr>
              <a:tr h="190133">
                <a:tc>
                  <a:txBody>
                    <a:bodyPr/>
                    <a:lstStyle/>
                    <a:p>
                      <a:pPr algn="l" fontAlgn="b">
                        <a:buNone/>
                      </a:pPr>
                      <a:r>
                        <a:rPr lang="fr-CA" sz="1100" u="none" strike="noStrike">
                          <a:effectLst/>
                        </a:rPr>
                        <a:t>Total</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7881</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528968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1,00</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1,00</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16143195"/>
                  </a:ext>
                </a:extLst>
              </a:tr>
              <a:tr h="445804">
                <a:tc gridSpan="7">
                  <a:txBody>
                    <a:bodyPr/>
                    <a:lstStyle/>
                    <a:p>
                      <a:pPr algn="l" fontAlgn="ctr">
                        <a:buNone/>
                      </a:pPr>
                      <a:r>
                        <a:rPr lang="en-US" sz="1200" u="none" strike="noStrike" dirty="0">
                          <a:effectLst/>
                        </a:rPr>
                        <a:t>We only considered languages that appeared in both job_postings.xlsx and popular-languages.xlsx. We used relative frequencies to enable comparison.</a:t>
                      </a:r>
                      <a:endParaRPr lang="en-US" sz="1200" b="0" i="0" u="none" strike="noStrike" dirty="0">
                        <a:solidFill>
                          <a:srgbClr val="000000"/>
                        </a:solidFill>
                        <a:effectLst/>
                        <a:latin typeface="Aptos" panose="020B0004020202020204" pitchFamily="34" charset="0"/>
                      </a:endParaRPr>
                    </a:p>
                  </a:txBody>
                  <a:tcPr marL="7620" marR="7620" marT="7620" marB="0"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592059188"/>
                  </a:ext>
                </a:extLst>
              </a:tr>
            </a:tbl>
          </a:graphicData>
        </a:graphic>
      </p:graphicFrame>
      <p:graphicFrame>
        <p:nvGraphicFramePr>
          <p:cNvPr id="3" name="Graphique 2">
            <a:extLst>
              <a:ext uri="{FF2B5EF4-FFF2-40B4-BE49-F238E27FC236}">
                <a16:creationId xmlns:a16="http://schemas.microsoft.com/office/drawing/2014/main" id="{692C2831-F917-AFED-EB62-1FAE74CBCE0B}"/>
              </a:ext>
            </a:extLst>
          </p:cNvPr>
          <p:cNvGraphicFramePr>
            <a:graphicFrameLocks/>
          </p:cNvGraphicFramePr>
          <p:nvPr>
            <p:extLst>
              <p:ext uri="{D42A27DB-BD31-4B8C-83A1-F6EECF244321}">
                <p14:modId xmlns:p14="http://schemas.microsoft.com/office/powerpoint/2010/main" val="2118209736"/>
              </p:ext>
            </p:extLst>
          </p:nvPr>
        </p:nvGraphicFramePr>
        <p:xfrm>
          <a:off x="3863340" y="1248066"/>
          <a:ext cx="7490460" cy="353568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860158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dirty="0"/>
              <a:t> JOB POSTINGS</a:t>
            </a:r>
          </a:p>
        </p:txBody>
      </p:sp>
      <p:graphicFrame>
        <p:nvGraphicFramePr>
          <p:cNvPr id="2" name="Tableau 1">
            <a:extLst>
              <a:ext uri="{FF2B5EF4-FFF2-40B4-BE49-F238E27FC236}">
                <a16:creationId xmlns:a16="http://schemas.microsoft.com/office/drawing/2014/main" id="{34AFBEC3-ECA0-CC34-9510-4E0017C15511}"/>
              </a:ext>
            </a:extLst>
          </p:cNvPr>
          <p:cNvGraphicFramePr>
            <a:graphicFrameLocks noGrp="1"/>
          </p:cNvGraphicFramePr>
          <p:nvPr>
            <p:extLst>
              <p:ext uri="{D42A27DB-BD31-4B8C-83A1-F6EECF244321}">
                <p14:modId xmlns:p14="http://schemas.microsoft.com/office/powerpoint/2010/main" val="754597609"/>
              </p:ext>
            </p:extLst>
          </p:nvPr>
        </p:nvGraphicFramePr>
        <p:xfrm>
          <a:off x="107949" y="1376416"/>
          <a:ext cx="2551167" cy="4698559"/>
        </p:xfrm>
        <a:graphic>
          <a:graphicData uri="http://schemas.openxmlformats.org/drawingml/2006/table">
            <a:tbl>
              <a:tblPr>
                <a:tableStyleId>{5C22544A-7EE6-4342-B048-85BDC9FD1C3A}</a:tableStyleId>
              </a:tblPr>
              <a:tblGrid>
                <a:gridCol w="699749">
                  <a:extLst>
                    <a:ext uri="{9D8B030D-6E8A-4147-A177-3AD203B41FA5}">
                      <a16:colId xmlns:a16="http://schemas.microsoft.com/office/drawing/2014/main" val="3455445160"/>
                    </a:ext>
                  </a:extLst>
                </a:gridCol>
                <a:gridCol w="1064201">
                  <a:extLst>
                    <a:ext uri="{9D8B030D-6E8A-4147-A177-3AD203B41FA5}">
                      <a16:colId xmlns:a16="http://schemas.microsoft.com/office/drawing/2014/main" val="746338371"/>
                    </a:ext>
                  </a:extLst>
                </a:gridCol>
                <a:gridCol w="787217">
                  <a:extLst>
                    <a:ext uri="{9D8B030D-6E8A-4147-A177-3AD203B41FA5}">
                      <a16:colId xmlns:a16="http://schemas.microsoft.com/office/drawing/2014/main" val="1785423031"/>
                    </a:ext>
                  </a:extLst>
                </a:gridCol>
              </a:tblGrid>
              <a:tr h="908814">
                <a:tc>
                  <a:txBody>
                    <a:bodyPr/>
                    <a:lstStyle/>
                    <a:p>
                      <a:pPr algn="ctr" fontAlgn="ctr">
                        <a:buNone/>
                      </a:pPr>
                      <a:r>
                        <a:rPr lang="fr-CA" sz="900" u="none" strike="noStrike">
                          <a:effectLst/>
                        </a:rPr>
                        <a:t>Language</a:t>
                      </a:r>
                      <a:endParaRPr lang="fr-CA" sz="9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900" u="none" strike="noStrike">
                          <a:effectLst/>
                        </a:rPr>
                        <a:t>Number of times the language is requested</a:t>
                      </a:r>
                      <a:endParaRPr lang="en-US" sz="900" b="1" i="0" u="none" strike="noStrike">
                        <a:solidFill>
                          <a:srgbClr val="000000"/>
                        </a:solidFill>
                        <a:effectLst/>
                        <a:latin typeface="Aptos" panose="020B0004020202020204" pitchFamily="34" charset="0"/>
                      </a:endParaRPr>
                    </a:p>
                  </a:txBody>
                  <a:tcPr marL="7620" marR="7620" marT="7620" marB="0" anchor="ctr"/>
                </a:tc>
                <a:tc>
                  <a:txBody>
                    <a:bodyPr/>
                    <a:lstStyle/>
                    <a:p>
                      <a:pPr algn="ctr" fontAlgn="ctr">
                        <a:buNone/>
                      </a:pPr>
                      <a:r>
                        <a:rPr lang="en-US" sz="900" u="none" strike="noStrike">
                          <a:effectLst/>
                        </a:rPr>
                        <a:t>Percentage of requests for the language in the sample</a:t>
                      </a:r>
                      <a:endParaRPr lang="en-US" sz="900" b="1" i="0" u="none" strike="noStrike">
                        <a:solidFill>
                          <a:srgbClr val="000000"/>
                        </a:solidFill>
                        <a:effectLst/>
                        <a:latin typeface="Aptos" panose="020B0004020202020204" pitchFamily="34" charset="0"/>
                      </a:endParaRPr>
                    </a:p>
                  </a:txBody>
                  <a:tcPr marL="7620" marR="7620" marT="7620" marB="0" anchor="ctr"/>
                </a:tc>
                <a:extLst>
                  <a:ext uri="{0D108BD9-81ED-4DB2-BD59-A6C34878D82A}">
                    <a16:rowId xmlns:a16="http://schemas.microsoft.com/office/drawing/2014/main" val="2920947109"/>
                  </a:ext>
                </a:extLst>
              </a:tr>
              <a:tr h="218115">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25114</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72%</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8761084"/>
                  </a:ext>
                </a:extLst>
              </a:tr>
              <a:tr h="218115">
                <a:tc>
                  <a:txBody>
                    <a:bodyPr/>
                    <a:lstStyle/>
                    <a:p>
                      <a:pPr algn="l" fontAlgn="b">
                        <a:buNone/>
                      </a:pPr>
                      <a:r>
                        <a:rPr lang="fr-CA" sz="1100" u="none" strike="noStrike">
                          <a:effectLst/>
                        </a:rPr>
                        <a:t>Java</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3428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10%</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2802871"/>
                  </a:ext>
                </a:extLst>
              </a:tr>
              <a:tr h="408965">
                <a:tc>
                  <a:txBody>
                    <a:bodyPr/>
                    <a:lstStyle/>
                    <a:p>
                      <a:pPr algn="l" fontAlgn="b">
                        <a:buNone/>
                      </a:pPr>
                      <a:r>
                        <a:rPr lang="fr-CA" sz="1100" u="none" strike="noStrike">
                          <a:effectLst/>
                        </a:rPr>
                        <a:t>JavaScript</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2248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6%</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21649297"/>
                  </a:ext>
                </a:extLst>
              </a:tr>
              <a:tr h="218115">
                <a:tc>
                  <a:txBody>
                    <a:bodyPr/>
                    <a:lstStyle/>
                    <a:p>
                      <a:pPr algn="l" fontAlgn="b">
                        <a:buNone/>
                      </a:pPr>
                      <a:r>
                        <a:rPr lang="fr-CA" sz="1100" u="none" strike="noStrike">
                          <a:effectLst/>
                        </a:rPr>
                        <a:t>Python</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1173</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3%</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70272648"/>
                  </a:ext>
                </a:extLst>
              </a:tr>
              <a:tr h="218115">
                <a:tc>
                  <a:txBody>
                    <a:bodyPr/>
                    <a:lstStyle/>
                    <a:p>
                      <a:pPr algn="l" fontAlgn="b">
                        <a:buNone/>
                      </a:pPr>
                      <a:r>
                        <a:rPr lang="fr-CA" sz="1100" u="none" strike="noStrike">
                          <a:effectLst/>
                        </a:rPr>
                        <a:t>Oracle</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899</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3%</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24244535"/>
                  </a:ext>
                </a:extLst>
              </a:tr>
              <a:tr h="218115">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526</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2%</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7172923"/>
                  </a:ext>
                </a:extLst>
              </a:tr>
              <a:tr h="218115">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506</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74989687"/>
                  </a:ext>
                </a:extLst>
              </a:tr>
              <a:tr h="408965">
                <a:tc>
                  <a:txBody>
                    <a:bodyPr/>
                    <a:lstStyle/>
                    <a:p>
                      <a:pPr algn="l" fontAlgn="b">
                        <a:buNone/>
                      </a:pPr>
                      <a:r>
                        <a:rPr lang="fr-CA" sz="1100" u="none" strike="noStrike">
                          <a:effectLst/>
                        </a:rPr>
                        <a:t>SQL Server</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423</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85933023"/>
                  </a:ext>
                </a:extLst>
              </a:tr>
              <a:tr h="408965">
                <a:tc>
                  <a:txBody>
                    <a:bodyPr/>
                    <a:lstStyle/>
                    <a:p>
                      <a:pPr algn="l" fontAlgn="b">
                        <a:buNone/>
                      </a:pPr>
                      <a:r>
                        <a:rPr lang="fr-CA" sz="1100" u="none" strike="noStrike">
                          <a:effectLst/>
                        </a:rPr>
                        <a:t>MongoDB</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208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74642510"/>
                  </a:ext>
                </a:extLst>
              </a:tr>
              <a:tr h="218115">
                <a:tc>
                  <a:txBody>
                    <a:bodyPr/>
                    <a:lstStyle/>
                    <a:p>
                      <a:pPr algn="l" fontAlgn="b">
                        <a:buNone/>
                      </a:pPr>
                      <a:r>
                        <a:rPr lang="fr-CA" sz="1100" u="none" strike="noStrike">
                          <a:effectLst/>
                        </a:rPr>
                        <a:t>Scala</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138</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68357213"/>
                  </a:ext>
                </a:extLst>
              </a:tr>
              <a:tr h="408965">
                <a:tc>
                  <a:txBody>
                    <a:bodyPr/>
                    <a:lstStyle/>
                    <a:p>
                      <a:pPr algn="l" fontAlgn="b">
                        <a:buNone/>
                      </a:pPr>
                      <a:r>
                        <a:rPr lang="fr-CA" sz="1100" u="none" strike="noStrike">
                          <a:effectLst/>
                        </a:rPr>
                        <a:t>PostgreSQL</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86</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23297953"/>
                  </a:ext>
                </a:extLst>
              </a:tr>
              <a:tr h="408965">
                <a:tc>
                  <a:txBody>
                    <a:bodyPr/>
                    <a:lstStyle/>
                    <a:p>
                      <a:pPr algn="l" fontAlgn="b">
                        <a:buNone/>
                      </a:pPr>
                      <a:r>
                        <a:rPr lang="fr-CA" sz="1100" u="none" strike="noStrike">
                          <a:effectLst/>
                        </a:rPr>
                        <a:t>MySQL Server</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0</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0%</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43647686"/>
                  </a:ext>
                </a:extLst>
              </a:tr>
              <a:tr h="218115">
                <a:tc>
                  <a:txBody>
                    <a:bodyPr/>
                    <a:lstStyle/>
                    <a:p>
                      <a:pPr algn="l" fontAlgn="b">
                        <a:buNone/>
                      </a:pPr>
                      <a:r>
                        <a:rPr lang="fr-CA" sz="1100" u="none" strike="noStrike">
                          <a:effectLst/>
                        </a:rPr>
                        <a:t>Total</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a:effectLst/>
                        </a:rPr>
                        <a:t>34749</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fr-CA" sz="1100" u="none" strike="noStrike" dirty="0">
                          <a:effectLst/>
                        </a:rPr>
                        <a:t>100%</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31644715"/>
                  </a:ext>
                </a:extLst>
              </a:tr>
            </a:tbl>
          </a:graphicData>
        </a:graphic>
      </p:graphicFrame>
      <p:graphicFrame>
        <p:nvGraphicFramePr>
          <p:cNvPr id="3" name="Graphique 2">
            <a:extLst>
              <a:ext uri="{FF2B5EF4-FFF2-40B4-BE49-F238E27FC236}">
                <a16:creationId xmlns:a16="http://schemas.microsoft.com/office/drawing/2014/main" id="{721BA475-C961-0CFB-4D36-0F39E91F80FA}"/>
              </a:ext>
            </a:extLst>
          </p:cNvPr>
          <p:cNvGraphicFramePr>
            <a:graphicFrameLocks/>
          </p:cNvGraphicFramePr>
          <p:nvPr>
            <p:extLst>
              <p:ext uri="{D42A27DB-BD31-4B8C-83A1-F6EECF244321}">
                <p14:modId xmlns:p14="http://schemas.microsoft.com/office/powerpoint/2010/main" val="4279742796"/>
              </p:ext>
            </p:extLst>
          </p:nvPr>
        </p:nvGraphicFramePr>
        <p:xfrm>
          <a:off x="2926079" y="1443989"/>
          <a:ext cx="8561727" cy="4630989"/>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3537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5929053" cy="1325563"/>
          </a:xfrm>
        </p:spPr>
        <p:txBody>
          <a:bodyPr anchor="ctr">
            <a:normAutofit/>
          </a:bodyPr>
          <a:lstStyle/>
          <a:p>
            <a:r>
              <a:rPr lang="en-US" dirty="0"/>
              <a:t>POPULAR LANGUAGES</a:t>
            </a:r>
          </a:p>
        </p:txBody>
      </p:sp>
      <p:graphicFrame>
        <p:nvGraphicFramePr>
          <p:cNvPr id="2" name="Tableau 1">
            <a:extLst>
              <a:ext uri="{FF2B5EF4-FFF2-40B4-BE49-F238E27FC236}">
                <a16:creationId xmlns:a16="http://schemas.microsoft.com/office/drawing/2014/main" id="{C616D039-D176-76AE-F1E4-7C7973D12FB4}"/>
              </a:ext>
            </a:extLst>
          </p:cNvPr>
          <p:cNvGraphicFramePr>
            <a:graphicFrameLocks noGrp="1"/>
          </p:cNvGraphicFramePr>
          <p:nvPr>
            <p:extLst>
              <p:ext uri="{D42A27DB-BD31-4B8C-83A1-F6EECF244321}">
                <p14:modId xmlns:p14="http://schemas.microsoft.com/office/powerpoint/2010/main" val="3071557579"/>
              </p:ext>
            </p:extLst>
          </p:nvPr>
        </p:nvGraphicFramePr>
        <p:xfrm>
          <a:off x="270422" y="1879644"/>
          <a:ext cx="1800115" cy="4416051"/>
        </p:xfrm>
        <a:graphic>
          <a:graphicData uri="http://schemas.openxmlformats.org/drawingml/2006/table">
            <a:tbl>
              <a:tblPr>
                <a:tableStyleId>{5C22544A-7EE6-4342-B048-85BDC9FD1C3A}</a:tableStyleId>
              </a:tblPr>
              <a:tblGrid>
                <a:gridCol w="764651">
                  <a:extLst>
                    <a:ext uri="{9D8B030D-6E8A-4147-A177-3AD203B41FA5}">
                      <a16:colId xmlns:a16="http://schemas.microsoft.com/office/drawing/2014/main" val="1401286884"/>
                    </a:ext>
                  </a:extLst>
                </a:gridCol>
                <a:gridCol w="1035464">
                  <a:extLst>
                    <a:ext uri="{9D8B030D-6E8A-4147-A177-3AD203B41FA5}">
                      <a16:colId xmlns:a16="http://schemas.microsoft.com/office/drawing/2014/main" val="2101161222"/>
                    </a:ext>
                  </a:extLst>
                </a:gridCol>
              </a:tblGrid>
              <a:tr h="697271">
                <a:tc>
                  <a:txBody>
                    <a:bodyPr/>
                    <a:lstStyle/>
                    <a:p>
                      <a:pPr algn="l" fontAlgn="b">
                        <a:buNone/>
                      </a:pPr>
                      <a:r>
                        <a:rPr lang="fr-CA" sz="1100" u="none" strike="noStrike">
                          <a:effectLst/>
                        </a:rPr>
                        <a:t>Language</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Average Annual Salary</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56114180"/>
                  </a:ext>
                </a:extLst>
              </a:tr>
              <a:tr h="371878">
                <a:tc>
                  <a:txBody>
                    <a:bodyPr/>
                    <a:lstStyle/>
                    <a:p>
                      <a:pPr algn="l" fontAlgn="b">
                        <a:buNone/>
                      </a:pPr>
                      <a:r>
                        <a:rPr lang="fr-CA" sz="1100" u="none" strike="noStrike">
                          <a:effectLst/>
                        </a:rPr>
                        <a:t>Swift</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130 801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64688544"/>
                  </a:ext>
                </a:extLst>
              </a:tr>
              <a:tr h="371878">
                <a:tc>
                  <a:txBody>
                    <a:bodyPr/>
                    <a:lstStyle/>
                    <a:p>
                      <a:pPr algn="l" fontAlgn="b">
                        <a:buNone/>
                      </a:pPr>
                      <a:r>
                        <a:rPr lang="fr-CA" sz="1100" u="none" strike="noStrike">
                          <a:effectLst/>
                        </a:rPr>
                        <a:t>Python</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114 383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458035"/>
                  </a:ext>
                </a:extLst>
              </a:tr>
              <a:tr h="371878">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113 865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60993517"/>
                  </a:ext>
                </a:extLst>
              </a:tr>
              <a:tr h="371878">
                <a:tc>
                  <a:txBody>
                    <a:bodyPr/>
                    <a:lstStyle/>
                    <a:p>
                      <a:pPr algn="l" fontAlgn="b">
                        <a:buNone/>
                      </a:pPr>
                      <a:r>
                        <a:rPr lang="fr-CA" sz="1100" u="none" strike="noStrike">
                          <a:effectLst/>
                        </a:rPr>
                        <a:t>Javascript</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110 981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5882873"/>
                  </a:ext>
                </a:extLst>
              </a:tr>
              <a:tr h="371878">
                <a:tc>
                  <a:txBody>
                    <a:bodyPr/>
                    <a:lstStyle/>
                    <a:p>
                      <a:pPr algn="l" fontAlgn="b">
                        <a:buNone/>
                      </a:pPr>
                      <a:r>
                        <a:rPr lang="fr-CA" sz="1100" u="none" strike="noStrike">
                          <a:effectLst/>
                        </a:rPr>
                        <a:t>Java</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101 013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94918854"/>
                  </a:ext>
                </a:extLst>
              </a:tr>
              <a:tr h="371878">
                <a:tc>
                  <a:txBody>
                    <a:bodyPr/>
                    <a:lstStyle/>
                    <a:p>
                      <a:pPr algn="l" fontAlgn="b">
                        <a:buNone/>
                      </a:pPr>
                      <a:r>
                        <a:rPr lang="fr-CA" sz="1100" u="none" strike="noStrike">
                          <a:effectLst/>
                        </a:rPr>
                        <a:t>Go</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94 082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61869988"/>
                  </a:ext>
                </a:extLst>
              </a:tr>
              <a:tr h="371878">
                <a:tc>
                  <a:txBody>
                    <a:bodyPr/>
                    <a:lstStyle/>
                    <a:p>
                      <a:pPr algn="l" fontAlgn="b">
                        <a:buNone/>
                      </a:pPr>
                      <a:r>
                        <a:rPr lang="fr-CA" sz="1100" u="none" strike="noStrike">
                          <a:effectLst/>
                        </a:rPr>
                        <a:t>R</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92 037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5301703"/>
                  </a:ext>
                </a:extLst>
              </a:tr>
              <a:tr h="371878">
                <a:tc>
                  <a:txBody>
                    <a:bodyPr/>
                    <a:lstStyle/>
                    <a:p>
                      <a:pPr algn="l" fontAlgn="b">
                        <a:buNone/>
                      </a:pPr>
                      <a:r>
                        <a:rPr lang="fr-CA" sz="1100" u="none" strike="noStrike">
                          <a:effectLst/>
                        </a:rPr>
                        <a:t>C#</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88 726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54615424"/>
                  </a:ext>
                </a:extLst>
              </a:tr>
              <a:tr h="371878">
                <a:tc>
                  <a:txBody>
                    <a:bodyPr/>
                    <a:lstStyle/>
                    <a:p>
                      <a:pPr algn="l" fontAlgn="b">
                        <a:buNone/>
                      </a:pPr>
                      <a:r>
                        <a:rPr lang="fr-CA" sz="1100" u="none" strike="noStrike">
                          <a:effectLst/>
                        </a:rPr>
                        <a:t>SQL</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a:effectLst/>
                        </a:rPr>
                        <a:t> $        84 793 </a:t>
                      </a:r>
                      <a:endParaRPr lang="fr-CA"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06856771"/>
                  </a:ext>
                </a:extLst>
              </a:tr>
              <a:tr h="371878">
                <a:tc>
                  <a:txBody>
                    <a:bodyPr/>
                    <a:lstStyle/>
                    <a:p>
                      <a:pPr algn="l" fontAlgn="b">
                        <a:buNone/>
                      </a:pPr>
                      <a:r>
                        <a:rPr lang="fr-CA" sz="1100" u="none" strike="noStrike">
                          <a:effectLst/>
                        </a:rPr>
                        <a:t>PHP</a:t>
                      </a:r>
                      <a:endParaRPr lang="fr-CA"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fr-CA" sz="1100" u="none" strike="noStrike" dirty="0">
                          <a:effectLst/>
                        </a:rPr>
                        <a:t> $        84 727 </a:t>
                      </a:r>
                      <a:endParaRPr lang="fr-CA"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51152996"/>
                  </a:ext>
                </a:extLst>
              </a:tr>
            </a:tbl>
          </a:graphicData>
        </a:graphic>
      </p:graphicFrame>
      <p:graphicFrame>
        <p:nvGraphicFramePr>
          <p:cNvPr id="3" name="Graphique 2">
            <a:extLst>
              <a:ext uri="{FF2B5EF4-FFF2-40B4-BE49-F238E27FC236}">
                <a16:creationId xmlns:a16="http://schemas.microsoft.com/office/drawing/2014/main" id="{254E5DA0-3F6C-427E-B3AA-365622FF804C}"/>
              </a:ext>
            </a:extLst>
          </p:cNvPr>
          <p:cNvGraphicFramePr>
            <a:graphicFrameLocks/>
          </p:cNvGraphicFramePr>
          <p:nvPr>
            <p:extLst>
              <p:ext uri="{D42A27DB-BD31-4B8C-83A1-F6EECF244321}">
                <p14:modId xmlns:p14="http://schemas.microsoft.com/office/powerpoint/2010/main" val="1917753769"/>
              </p:ext>
            </p:extLst>
          </p:nvPr>
        </p:nvGraphicFramePr>
        <p:xfrm>
          <a:off x="2597894" y="1397875"/>
          <a:ext cx="8595623" cy="4897821"/>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727</TotalTime>
  <Words>1601</Words>
  <Application>Microsoft Office PowerPoint</Application>
  <PresentationFormat>Grand écran</PresentationFormat>
  <Paragraphs>251</Paragraphs>
  <Slides>30</Slides>
  <Notes>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30</vt:i4>
      </vt:variant>
    </vt:vector>
  </HeadingPairs>
  <TitlesOfParts>
    <vt:vector size="38" baseType="lpstr">
      <vt:lpstr>Aptos</vt:lpstr>
      <vt:lpstr>Arial</vt:lpstr>
      <vt:lpstr>Calibri</vt:lpstr>
      <vt:lpstr>Helv</vt:lpstr>
      <vt:lpstr>IBM Plex Mono</vt:lpstr>
      <vt:lpstr>IBM Plex Sans</vt:lpstr>
      <vt:lpstr>IBM Plex Sans SemiBold</vt:lpstr>
      <vt:lpstr>SLIDE_TEMPLATE_skill_network</vt:lpstr>
      <vt:lpstr>Project Title: Technology Trends in the Developer Job Market  By: Pierre Marie Ntang  Date: 2025/11/11</vt:lpstr>
      <vt:lpstr>Présentation PowerPoint</vt:lpstr>
      <vt:lpstr>EXECUTIVE SUMMARY</vt:lpstr>
      <vt:lpstr>INTRODUCTION</vt:lpstr>
      <vt:lpstr>METHODOLOGY</vt:lpstr>
      <vt:lpstr>PROGRAMMING LANGUAGE TRENDS</vt:lpstr>
      <vt:lpstr>PROGRAMMING LANGUAGE TRENDS - FINDINGS &amp; IMPLICATIONS</vt:lpstr>
      <vt:lpstr>PROGRAMMING LANGUAGE TRENDS - FINDINGS &amp; IMPLICATIONS</vt:lpstr>
      <vt:lpstr>DATABASE TRENDS</vt:lpstr>
      <vt:lpstr>DATABASE TRENDS - FINDINGS &amp; IMPLICATIONS</vt:lpstr>
      <vt:lpstr>DATABASE TRENDS - FINDINGS &amp; IMPLICATIONS</vt:lpstr>
      <vt:lpstr>DASHBOARD</vt:lpstr>
      <vt:lpstr>Current Technology Usage </vt:lpstr>
      <vt:lpstr>Current Technology Usage -Top 10 platforms worked with most frequently  </vt:lpstr>
      <vt:lpstr>Current Technology Usage - Top 10 webframes worked with most frequently </vt:lpstr>
      <vt:lpstr>Future Technology Trend</vt:lpstr>
      <vt:lpstr>Future Technology Trend-Top 10 platforms most wanted to work with </vt:lpstr>
      <vt:lpstr>Future Technology Trend-Top 10 webframes most wanted to work with </vt:lpstr>
      <vt:lpstr>Demographics</vt:lpstr>
      <vt:lpstr>Demographics –Respondent distribution by Age</vt:lpstr>
      <vt:lpstr>Demographics – Respondent count by Country</vt:lpstr>
      <vt:lpstr>Demographics-Respondent distribution by Formal Education Level</vt:lpstr>
      <vt:lpstr>Demographics-Respondent count by Age, classified by Education Level</vt:lpstr>
      <vt:lpstr>DISCUSSION – DATA USED AND CHOICES MADE</vt:lpstr>
      <vt:lpstr>DISCUSSION - RESULTS</vt:lpstr>
      <vt:lpstr>OVERALL FINDINGS &amp; IMPLICATIONS</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Ntang Pierre Marie</cp:lastModifiedBy>
  <cp:revision>10</cp:revision>
  <dcterms:created xsi:type="dcterms:W3CDTF">2024-10-30T05:40:03Z</dcterms:created>
  <dcterms:modified xsi:type="dcterms:W3CDTF">2025-11-12T16:22:23Z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